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4a9509e13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4a9509e13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4a9509e1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4a9509e1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4a9509e1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4a9509e1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4a9509e1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4a9509e1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4a9509e1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4a9509e1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4a9509e1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4a9509e1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4a9509e1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4a9509e1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4a9509e1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4a9509e1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4a9509e1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4a9509e1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4a9509e13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4a9509e13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4a9509e1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4a9509e1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4a9509e1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4a9509e1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4a9509e1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4a9509e1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4a9509e13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4a9509e13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4a9509e1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c4a9509e1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4a9509e13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4a9509e13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4a9509e13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4a9509e13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4a9509e1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4a9509e1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4a9509e13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4a9509e1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4a9509e1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4a9509e1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4a9509e1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4a9509e1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4a9509e13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4a9509e13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4a9509e13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4a9509e13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4a9509e13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c4a9509e13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4a9509e13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4a9509e13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4a9509e13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c4a9509e13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None/>
            </a:pPr>
            <a:r>
              <a:rPr b="1" lang="en" sz="2400"/>
              <a:t>Title Slide</a:t>
            </a:r>
            <a:endParaRPr sz="2400"/>
          </a:p>
        </p:txBody>
      </p:sp>
      <p:sp>
        <p:nvSpPr>
          <p:cNvPr id="61" name="Google Shape;61;p14"/>
          <p:cNvSpPr txBox="1"/>
          <p:nvPr>
            <p:ph idx="1" type="body"/>
          </p:nvPr>
        </p:nvSpPr>
        <p:spPr>
          <a:xfrm>
            <a:off x="904725" y="1152475"/>
            <a:ext cx="73272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2400">
                <a:solidFill>
                  <a:schemeClr val="dk1"/>
                </a:solidFill>
              </a:rPr>
              <a:t>Main Title:</a:t>
            </a:r>
            <a:r>
              <a:rPr lang="en" sz="2400">
                <a:solidFill>
                  <a:schemeClr val="dk1"/>
                </a:solidFill>
              </a:rPr>
              <a:t> Agri-Tech: AI-Powered Tree Disease Diagnostics</a:t>
            </a:r>
            <a:endParaRPr sz="2400">
              <a:solidFill>
                <a:schemeClr val="dk1"/>
              </a:solidFill>
            </a:endParaRPr>
          </a:p>
          <a:p>
            <a:pPr indent="0" lvl="0" marL="0" rtl="0" algn="l">
              <a:spcBef>
                <a:spcPts val="1200"/>
              </a:spcBef>
              <a:spcAft>
                <a:spcPts val="0"/>
              </a:spcAft>
              <a:buClr>
                <a:schemeClr val="dk1"/>
              </a:buClr>
              <a:buSzPts val="1100"/>
              <a:buFont typeface="Arial"/>
              <a:buNone/>
            </a:pPr>
            <a:r>
              <a:rPr b="1" lang="en" sz="2400">
                <a:solidFill>
                  <a:schemeClr val="dk1"/>
                </a:solidFill>
              </a:rPr>
              <a:t>Subtitle:</a:t>
            </a:r>
            <a:r>
              <a:rPr lang="en" sz="2400">
                <a:solidFill>
                  <a:schemeClr val="dk1"/>
                </a:solidFill>
              </a:rPr>
              <a:t> Real-time leaf pathology detection using Flutter and Cloud-based Deep Learning.</a:t>
            </a:r>
            <a:endParaRPr sz="2400">
              <a:solidFill>
                <a:schemeClr val="dk1"/>
              </a:solidFill>
            </a:endParaRPr>
          </a:p>
          <a:p>
            <a:pPr indent="0" lvl="0" marL="0" rtl="0" algn="l">
              <a:spcBef>
                <a:spcPts val="1200"/>
              </a:spcBef>
              <a:spcAft>
                <a:spcPts val="0"/>
              </a:spcAft>
              <a:buClr>
                <a:schemeClr val="dk1"/>
              </a:buClr>
              <a:buSzPts val="1100"/>
              <a:buFont typeface="Arial"/>
              <a:buNone/>
            </a:pPr>
            <a:r>
              <a:rPr b="1" lang="en" sz="2400">
                <a:solidFill>
                  <a:schemeClr val="dk1"/>
                </a:solidFill>
              </a:rPr>
              <a:t>Presented by:</a:t>
            </a:r>
            <a:r>
              <a:rPr lang="en" sz="2400">
                <a:solidFill>
                  <a:schemeClr val="dk1"/>
                </a:solidFill>
              </a:rPr>
              <a:t> Mohammed Hamid-92301733059</a:t>
            </a:r>
            <a:endParaRPr sz="2400">
              <a:solidFill>
                <a:schemeClr val="dk1"/>
              </a:solidFill>
            </a:endParaRPr>
          </a:p>
          <a:p>
            <a:pPr indent="0" lvl="0" marL="0" rtl="0" algn="l">
              <a:spcBef>
                <a:spcPts val="1200"/>
              </a:spcBef>
              <a:spcAft>
                <a:spcPts val="0"/>
              </a:spcAft>
              <a:buClr>
                <a:schemeClr val="dk1"/>
              </a:buClr>
              <a:buSzPts val="1100"/>
              <a:buFont typeface="Arial"/>
              <a:buNone/>
            </a:pPr>
            <a:r>
              <a:rPr b="1" lang="en" sz="2400">
                <a:solidFill>
                  <a:schemeClr val="dk1"/>
                </a:solidFill>
              </a:rPr>
              <a:t>Role:</a:t>
            </a:r>
            <a:r>
              <a:rPr lang="en" sz="2400">
                <a:solidFill>
                  <a:schemeClr val="dk1"/>
                </a:solidFill>
              </a:rPr>
              <a:t> Mobile App Developer / AI Researcher</a:t>
            </a:r>
            <a:endParaRPr sz="2400">
              <a:solidFill>
                <a:schemeClr val="dk1"/>
              </a:solidFill>
            </a:endParaRPr>
          </a:p>
          <a:p>
            <a:pPr indent="0" lvl="0" marL="0" rtl="0" algn="l">
              <a:spcBef>
                <a:spcPts val="1200"/>
              </a:spcBef>
              <a:spcAft>
                <a:spcPts val="1200"/>
              </a:spcAft>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2400"/>
              <a:t>Problem Statement</a:t>
            </a:r>
            <a:endParaRPr sz="2400"/>
          </a:p>
        </p:txBody>
      </p:sp>
      <p:sp>
        <p:nvSpPr>
          <p:cNvPr id="67" name="Google Shape;67;p15"/>
          <p:cNvSpPr txBox="1"/>
          <p:nvPr>
            <p:ph idx="1" type="body"/>
          </p:nvPr>
        </p:nvSpPr>
        <p:spPr>
          <a:xfrm>
            <a:off x="915600" y="1304700"/>
            <a:ext cx="72933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7350" lvl="0" marL="457200" rtl="0" algn="l">
              <a:spcBef>
                <a:spcPts val="1200"/>
              </a:spcBef>
              <a:spcAft>
                <a:spcPts val="0"/>
              </a:spcAft>
              <a:buClr>
                <a:schemeClr val="dk1"/>
              </a:buClr>
              <a:buSzPts val="2500"/>
              <a:buChar char="●"/>
            </a:pPr>
            <a:r>
              <a:rPr b="1" lang="en" sz="2500">
                <a:solidFill>
                  <a:schemeClr val="dk1"/>
                </a:solidFill>
              </a:rPr>
              <a:t>The Issue:</a:t>
            </a:r>
            <a:r>
              <a:rPr lang="en" sz="2500">
                <a:solidFill>
                  <a:schemeClr val="dk1"/>
                </a:solidFill>
              </a:rPr>
              <a:t> Global agriculture loses 20-40% of crop yield to pests and diseases.</a:t>
            </a:r>
            <a:endParaRPr sz="2500">
              <a:solidFill>
                <a:schemeClr val="dk1"/>
              </a:solidFill>
            </a:endParaRPr>
          </a:p>
          <a:p>
            <a:pPr indent="-387350" lvl="0" marL="457200" rtl="0" algn="l">
              <a:spcBef>
                <a:spcPts val="0"/>
              </a:spcBef>
              <a:spcAft>
                <a:spcPts val="0"/>
              </a:spcAft>
              <a:buClr>
                <a:schemeClr val="dk1"/>
              </a:buClr>
              <a:buSzPts val="2500"/>
              <a:buChar char="●"/>
            </a:pPr>
            <a:r>
              <a:rPr b="1" lang="en" sz="2500">
                <a:solidFill>
                  <a:schemeClr val="dk1"/>
                </a:solidFill>
              </a:rPr>
              <a:t>The Barrier:</a:t>
            </a:r>
            <a:r>
              <a:rPr lang="en" sz="2500">
                <a:solidFill>
                  <a:schemeClr val="dk1"/>
                </a:solidFill>
              </a:rPr>
              <a:t> Lack of immediate access to plant pathologists in rural areas.</a:t>
            </a:r>
            <a:endParaRPr sz="2500">
              <a:solidFill>
                <a:schemeClr val="dk1"/>
              </a:solidFill>
            </a:endParaRPr>
          </a:p>
          <a:p>
            <a:pPr indent="-387350" lvl="0" marL="457200" rtl="0" algn="l">
              <a:spcBef>
                <a:spcPts val="0"/>
              </a:spcBef>
              <a:spcAft>
                <a:spcPts val="0"/>
              </a:spcAft>
              <a:buClr>
                <a:schemeClr val="dk1"/>
              </a:buClr>
              <a:buSzPts val="2500"/>
              <a:buChar char="●"/>
            </a:pPr>
            <a:r>
              <a:rPr b="1" lang="en" sz="2500">
                <a:solidFill>
                  <a:schemeClr val="dk1"/>
                </a:solidFill>
              </a:rPr>
              <a:t>The Delay:</a:t>
            </a:r>
            <a:r>
              <a:rPr lang="en" sz="2500">
                <a:solidFill>
                  <a:schemeClr val="dk1"/>
                </a:solidFill>
              </a:rPr>
              <a:t> Manual identification is slow and often happens after the infection has spread.</a:t>
            </a: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The Solution</a:t>
            </a:r>
            <a:endParaRPr b="1" sz="2400"/>
          </a:p>
          <a:p>
            <a:pPr indent="0" lvl="0" marL="0" rtl="0" algn="l">
              <a:spcBef>
                <a:spcPts val="400"/>
              </a:spcBef>
              <a:spcAft>
                <a:spcPts val="0"/>
              </a:spcAft>
              <a:buNone/>
            </a:pPr>
            <a:r>
              <a:t/>
            </a:r>
            <a:endParaRPr/>
          </a:p>
        </p:txBody>
      </p:sp>
      <p:sp>
        <p:nvSpPr>
          <p:cNvPr id="73" name="Google Shape;73;p16"/>
          <p:cNvSpPr txBox="1"/>
          <p:nvPr>
            <p:ph idx="1" type="body"/>
          </p:nvPr>
        </p:nvSpPr>
        <p:spPr>
          <a:xfrm>
            <a:off x="861225" y="1152475"/>
            <a:ext cx="73938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Char char="●"/>
            </a:pPr>
            <a:r>
              <a:rPr b="1" lang="en" sz="2400">
                <a:solidFill>
                  <a:schemeClr val="dk1"/>
                </a:solidFill>
              </a:rPr>
              <a:t>Product:</a:t>
            </a:r>
            <a:r>
              <a:rPr lang="en" sz="2400">
                <a:solidFill>
                  <a:schemeClr val="dk1"/>
                </a:solidFill>
              </a:rPr>
              <a:t> A mobile application that acts as a "Digital Pathologist."</a:t>
            </a:r>
            <a:endParaRPr sz="2400">
              <a:solidFill>
                <a:schemeClr val="dk1"/>
              </a:solidFill>
            </a:endParaRPr>
          </a:p>
          <a:p>
            <a:pPr indent="-381000" lvl="0" marL="457200" rtl="0" algn="l">
              <a:spcBef>
                <a:spcPts val="0"/>
              </a:spcBef>
              <a:spcAft>
                <a:spcPts val="0"/>
              </a:spcAft>
              <a:buClr>
                <a:schemeClr val="dk1"/>
              </a:buClr>
              <a:buSzPts val="2400"/>
              <a:buChar char="●"/>
            </a:pPr>
            <a:r>
              <a:rPr b="1" lang="en" sz="2400">
                <a:solidFill>
                  <a:schemeClr val="dk1"/>
                </a:solidFill>
              </a:rPr>
              <a:t>How it works:</a:t>
            </a:r>
            <a:r>
              <a:rPr lang="en" sz="2400">
                <a:solidFill>
                  <a:schemeClr val="dk1"/>
                </a:solidFill>
              </a:rPr>
              <a:t> Farmers snap a photo of a distressed leaf; the AI identifies the disease and suggests treatment in seconds.</a:t>
            </a:r>
            <a:endParaRPr sz="2400">
              <a:solidFill>
                <a:schemeClr val="dk1"/>
              </a:solidFill>
            </a:endParaRPr>
          </a:p>
          <a:p>
            <a:pPr indent="-381000" lvl="0" marL="457200" rtl="0" algn="l">
              <a:spcBef>
                <a:spcPts val="0"/>
              </a:spcBef>
              <a:spcAft>
                <a:spcPts val="0"/>
              </a:spcAft>
              <a:buClr>
                <a:schemeClr val="dk1"/>
              </a:buClr>
              <a:buSzPts val="2400"/>
              <a:buChar char="●"/>
            </a:pPr>
            <a:r>
              <a:rPr b="1" lang="en" sz="2400">
                <a:solidFill>
                  <a:schemeClr val="dk1"/>
                </a:solidFill>
              </a:rPr>
              <a:t>Key Advantage:</a:t>
            </a:r>
            <a:r>
              <a:rPr lang="en" sz="2400">
                <a:solidFill>
                  <a:schemeClr val="dk1"/>
                </a:solidFill>
              </a:rPr>
              <a:t> Scalable, instant, and highly accurate.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Project Objectives</a:t>
            </a:r>
            <a:endParaRPr b="1" sz="2400"/>
          </a:p>
          <a:p>
            <a:pPr indent="0" lvl="0" marL="0" rtl="0" algn="l">
              <a:spcBef>
                <a:spcPts val="400"/>
              </a:spcBef>
              <a:spcAft>
                <a:spcPts val="0"/>
              </a:spcAft>
              <a:buNone/>
            </a:pPr>
            <a:r>
              <a:t/>
            </a:r>
            <a:endParaRPr/>
          </a:p>
        </p:txBody>
      </p:sp>
      <p:sp>
        <p:nvSpPr>
          <p:cNvPr id="79" name="Google Shape;79;p17"/>
          <p:cNvSpPr txBox="1"/>
          <p:nvPr>
            <p:ph idx="1" type="body"/>
          </p:nvPr>
        </p:nvSpPr>
        <p:spPr>
          <a:xfrm>
            <a:off x="904725" y="1152475"/>
            <a:ext cx="73386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lnSpcReduction="10000"/>
          </a:bodyPr>
          <a:lstStyle/>
          <a:p>
            <a:pPr indent="-385084" lvl="0" marL="457200" rtl="0" algn="l">
              <a:spcBef>
                <a:spcPts val="0"/>
              </a:spcBef>
              <a:spcAft>
                <a:spcPts val="0"/>
              </a:spcAft>
              <a:buClr>
                <a:schemeClr val="dk1"/>
              </a:buClr>
              <a:buSzPts val="2464"/>
              <a:buChar char="●"/>
            </a:pPr>
            <a:r>
              <a:rPr lang="en" sz="2464">
                <a:solidFill>
                  <a:schemeClr val="dk1"/>
                </a:solidFill>
              </a:rPr>
              <a:t>Develop a </a:t>
            </a:r>
            <a:r>
              <a:rPr b="1" lang="en" sz="2464">
                <a:solidFill>
                  <a:schemeClr val="dk1"/>
                </a:solidFill>
              </a:rPr>
              <a:t>Convolutional Neural Network (CNN)</a:t>
            </a:r>
            <a:r>
              <a:rPr lang="en" sz="2464">
                <a:solidFill>
                  <a:schemeClr val="dk1"/>
                </a:solidFill>
              </a:rPr>
              <a:t> for image classification.</a:t>
            </a:r>
            <a:endParaRPr sz="2464">
              <a:solidFill>
                <a:schemeClr val="dk1"/>
              </a:solidFill>
            </a:endParaRPr>
          </a:p>
          <a:p>
            <a:pPr indent="-385084" lvl="0" marL="457200" rtl="0" algn="l">
              <a:spcBef>
                <a:spcPts val="0"/>
              </a:spcBef>
              <a:spcAft>
                <a:spcPts val="0"/>
              </a:spcAft>
              <a:buClr>
                <a:schemeClr val="dk1"/>
              </a:buClr>
              <a:buSzPts val="2464"/>
              <a:buChar char="●"/>
            </a:pPr>
            <a:r>
              <a:rPr lang="en" sz="2464">
                <a:solidFill>
                  <a:schemeClr val="dk1"/>
                </a:solidFill>
              </a:rPr>
              <a:t>Build a seamless </a:t>
            </a:r>
            <a:r>
              <a:rPr b="1" lang="en" sz="2464">
                <a:solidFill>
                  <a:schemeClr val="dk1"/>
                </a:solidFill>
              </a:rPr>
              <a:t>Flutter Mobile App</a:t>
            </a:r>
            <a:r>
              <a:rPr lang="en" sz="2464">
                <a:solidFill>
                  <a:schemeClr val="dk1"/>
                </a:solidFill>
              </a:rPr>
              <a:t> for cross-platform use (iOS/Android).</a:t>
            </a:r>
            <a:endParaRPr sz="2464">
              <a:solidFill>
                <a:schemeClr val="dk1"/>
              </a:solidFill>
            </a:endParaRPr>
          </a:p>
          <a:p>
            <a:pPr indent="-385084" lvl="0" marL="457200" rtl="0" algn="l">
              <a:spcBef>
                <a:spcPts val="0"/>
              </a:spcBef>
              <a:spcAft>
                <a:spcPts val="0"/>
              </a:spcAft>
              <a:buClr>
                <a:schemeClr val="dk1"/>
              </a:buClr>
              <a:buSzPts val="2464"/>
              <a:buChar char="●"/>
            </a:pPr>
            <a:r>
              <a:rPr lang="en" sz="2464">
                <a:solidFill>
                  <a:schemeClr val="dk1"/>
                </a:solidFill>
              </a:rPr>
              <a:t>Implement a </a:t>
            </a:r>
            <a:r>
              <a:rPr b="1" lang="en" sz="2464">
                <a:solidFill>
                  <a:schemeClr val="dk1"/>
                </a:solidFill>
              </a:rPr>
              <a:t>Scalable Cloud Backend</a:t>
            </a:r>
            <a:r>
              <a:rPr lang="en" sz="2464">
                <a:solidFill>
                  <a:schemeClr val="dk1"/>
                </a:solidFill>
              </a:rPr>
              <a:t> to handle inference requests.</a:t>
            </a:r>
            <a:endParaRPr sz="2464">
              <a:solidFill>
                <a:schemeClr val="dk1"/>
              </a:solidFill>
            </a:endParaRPr>
          </a:p>
          <a:p>
            <a:pPr indent="-385084" lvl="0" marL="457200" rtl="0" algn="l">
              <a:spcBef>
                <a:spcPts val="0"/>
              </a:spcBef>
              <a:spcAft>
                <a:spcPts val="0"/>
              </a:spcAft>
              <a:buClr>
                <a:schemeClr val="dk1"/>
              </a:buClr>
              <a:buSzPts val="2464"/>
              <a:buChar char="●"/>
            </a:pPr>
            <a:r>
              <a:rPr lang="en" sz="2464">
                <a:solidFill>
                  <a:schemeClr val="dk1"/>
                </a:solidFill>
              </a:rPr>
              <a:t>Provide actionable insights to end-users.</a:t>
            </a:r>
            <a:endParaRPr sz="2464">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High-Level System Architecture</a:t>
            </a:r>
            <a:endParaRPr b="1" sz="2400"/>
          </a:p>
          <a:p>
            <a:pPr indent="0" lvl="0" marL="0" rtl="0" algn="l">
              <a:spcBef>
                <a:spcPts val="400"/>
              </a:spcBef>
              <a:spcAft>
                <a:spcPts val="0"/>
              </a:spcAft>
              <a:buNone/>
            </a:pPr>
            <a:r>
              <a:t/>
            </a:r>
            <a:endParaRPr/>
          </a:p>
        </p:txBody>
      </p:sp>
      <p:sp>
        <p:nvSpPr>
          <p:cNvPr id="85" name="Google Shape;85;p18"/>
          <p:cNvSpPr txBox="1"/>
          <p:nvPr>
            <p:ph idx="1" type="body"/>
          </p:nvPr>
        </p:nvSpPr>
        <p:spPr>
          <a:xfrm>
            <a:off x="892300" y="1152475"/>
            <a:ext cx="73626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lnSpcReduction="10000"/>
          </a:bodyPr>
          <a:lstStyle/>
          <a:p>
            <a:pPr indent="-381000" lvl="0" marL="457200" rtl="0" algn="l">
              <a:spcBef>
                <a:spcPts val="0"/>
              </a:spcBef>
              <a:spcAft>
                <a:spcPts val="0"/>
              </a:spcAft>
              <a:buClr>
                <a:schemeClr val="dk1"/>
              </a:buClr>
              <a:buSzPts val="2400"/>
              <a:buChar char="●"/>
            </a:pPr>
            <a:r>
              <a:rPr b="1" lang="en" sz="2400">
                <a:solidFill>
                  <a:schemeClr val="dk1"/>
                </a:solidFill>
              </a:rPr>
              <a:t>Frontend:</a:t>
            </a:r>
            <a:r>
              <a:rPr lang="en" sz="2400">
                <a:solidFill>
                  <a:schemeClr val="dk1"/>
                </a:solidFill>
              </a:rPr>
              <a:t> Flutter App (Camera API, Image Picker).</a:t>
            </a:r>
            <a:endParaRPr sz="2400">
              <a:solidFill>
                <a:schemeClr val="dk1"/>
              </a:solidFill>
            </a:endParaRPr>
          </a:p>
          <a:p>
            <a:pPr indent="-381000" lvl="0" marL="457200" rtl="0" algn="l">
              <a:spcBef>
                <a:spcPts val="0"/>
              </a:spcBef>
              <a:spcAft>
                <a:spcPts val="0"/>
              </a:spcAft>
              <a:buClr>
                <a:schemeClr val="dk1"/>
              </a:buClr>
              <a:buSzPts val="2400"/>
              <a:buChar char="●"/>
            </a:pPr>
            <a:r>
              <a:rPr b="1" lang="en" sz="2400">
                <a:solidFill>
                  <a:schemeClr val="dk1"/>
                </a:solidFill>
              </a:rPr>
              <a:t>Backend:</a:t>
            </a:r>
            <a:r>
              <a:rPr lang="en" sz="2400">
                <a:solidFill>
                  <a:schemeClr val="dk1"/>
                </a:solidFill>
              </a:rPr>
              <a:t> Cloud Infrastructure (API Gateway, Serverless Functions).</a:t>
            </a:r>
            <a:endParaRPr sz="2400">
              <a:solidFill>
                <a:schemeClr val="dk1"/>
              </a:solidFill>
            </a:endParaRPr>
          </a:p>
          <a:p>
            <a:pPr indent="-381000" lvl="0" marL="457200" rtl="0" algn="l">
              <a:spcBef>
                <a:spcPts val="0"/>
              </a:spcBef>
              <a:spcAft>
                <a:spcPts val="0"/>
              </a:spcAft>
              <a:buClr>
                <a:schemeClr val="dk1"/>
              </a:buClr>
              <a:buSzPts val="2400"/>
              <a:buChar char="●"/>
            </a:pPr>
            <a:r>
              <a:rPr b="1" lang="en" sz="2400">
                <a:solidFill>
                  <a:schemeClr val="dk1"/>
                </a:solidFill>
              </a:rPr>
              <a:t>AI Engine:</a:t>
            </a:r>
            <a:r>
              <a:rPr lang="en" sz="2400">
                <a:solidFill>
                  <a:schemeClr val="dk1"/>
                </a:solidFill>
              </a:rPr>
              <a:t> TensorFlow/PyTorch model hosted on the cloud.</a:t>
            </a:r>
            <a:endParaRPr sz="2400">
              <a:solidFill>
                <a:schemeClr val="dk1"/>
              </a:solidFill>
            </a:endParaRPr>
          </a:p>
          <a:p>
            <a:pPr indent="-381000" lvl="0" marL="457200" rtl="0" algn="l">
              <a:spcBef>
                <a:spcPts val="0"/>
              </a:spcBef>
              <a:spcAft>
                <a:spcPts val="0"/>
              </a:spcAft>
              <a:buClr>
                <a:schemeClr val="dk1"/>
              </a:buClr>
              <a:buSzPts val="2400"/>
              <a:buChar char="●"/>
            </a:pPr>
            <a:r>
              <a:rPr b="1" lang="en" sz="2400">
                <a:solidFill>
                  <a:schemeClr val="dk1"/>
                </a:solidFill>
              </a:rPr>
              <a:t>Storage:</a:t>
            </a:r>
            <a:r>
              <a:rPr lang="en" sz="2400">
                <a:solidFill>
                  <a:schemeClr val="dk1"/>
                </a:solidFill>
              </a:rPr>
              <a:t> Cloud Bucket for image logs and database for disease metadata.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Clr>
                <a:schemeClr val="dk1"/>
              </a:buClr>
              <a:buSzPct val="84615"/>
              <a:buFont typeface="Arial"/>
              <a:buNone/>
            </a:pPr>
            <a:r>
              <a:rPr b="1" lang="en" sz="1300"/>
              <a:t>Slide 6: The Tech Stack</a:t>
            </a:r>
            <a:endParaRPr b="1" sz="1300"/>
          </a:p>
          <a:p>
            <a:pPr indent="0" lvl="0" marL="0" rtl="0" algn="l">
              <a:spcBef>
                <a:spcPts val="400"/>
              </a:spcBef>
              <a:spcAft>
                <a:spcPts val="0"/>
              </a:spcAft>
              <a:buNone/>
            </a:pPr>
            <a:r>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rgbClr val="1F1F1F"/>
                </a:solidFill>
              </a:rPr>
              <a:t>Category</a:t>
            </a:r>
            <a:endParaRPr b="1" sz="1100">
              <a:solidFill>
                <a:srgbClr val="1F1F1F"/>
              </a:solidFill>
            </a:endParaRPr>
          </a:p>
          <a:p>
            <a:pPr indent="0" lvl="0" marL="0" rtl="0" algn="l">
              <a:spcBef>
                <a:spcPts val="0"/>
              </a:spcBef>
              <a:spcAft>
                <a:spcPts val="0"/>
              </a:spcAft>
              <a:buNone/>
            </a:pPr>
            <a:r>
              <a:rPr b="1" lang="en" sz="1100">
                <a:solidFill>
                  <a:srgbClr val="1F1F1F"/>
                </a:solidFill>
              </a:rPr>
              <a:t>Technology</a:t>
            </a:r>
            <a:endParaRPr b="1" sz="1100">
              <a:solidFill>
                <a:srgbClr val="1F1F1F"/>
              </a:solidFill>
            </a:endParaRPr>
          </a:p>
          <a:p>
            <a:pPr indent="0" lvl="0" marL="0" rtl="0" algn="l">
              <a:spcBef>
                <a:spcPts val="0"/>
              </a:spcBef>
              <a:spcAft>
                <a:spcPts val="0"/>
              </a:spcAft>
              <a:buNone/>
            </a:pPr>
            <a:r>
              <a:rPr b="1" lang="en" sz="1100">
                <a:solidFill>
                  <a:srgbClr val="1F1F1F"/>
                </a:solidFill>
              </a:rPr>
              <a:t>Mobile</a:t>
            </a:r>
            <a:endParaRPr b="1" sz="1100">
              <a:solidFill>
                <a:srgbClr val="1F1F1F"/>
              </a:solidFill>
            </a:endParaRPr>
          </a:p>
          <a:p>
            <a:pPr indent="0" lvl="0" marL="0" rtl="0" algn="l">
              <a:spcBef>
                <a:spcPts val="0"/>
              </a:spcBef>
              <a:spcAft>
                <a:spcPts val="0"/>
              </a:spcAft>
              <a:buNone/>
            </a:pPr>
            <a:r>
              <a:rPr lang="en" sz="1100">
                <a:solidFill>
                  <a:srgbClr val="1F1F1F"/>
                </a:solidFill>
              </a:rPr>
              <a:t>Flutter (Dart)</a:t>
            </a:r>
            <a:endParaRPr sz="1100">
              <a:solidFill>
                <a:srgbClr val="1F1F1F"/>
              </a:solidFill>
            </a:endParaRPr>
          </a:p>
          <a:p>
            <a:pPr indent="0" lvl="0" marL="0" rtl="0" algn="l">
              <a:spcBef>
                <a:spcPts val="0"/>
              </a:spcBef>
              <a:spcAft>
                <a:spcPts val="0"/>
              </a:spcAft>
              <a:buNone/>
            </a:pPr>
            <a:r>
              <a:rPr b="1" lang="en" sz="1100">
                <a:solidFill>
                  <a:srgbClr val="1F1F1F"/>
                </a:solidFill>
              </a:rPr>
              <a:t>AI/ML</a:t>
            </a:r>
            <a:endParaRPr b="1" sz="1100">
              <a:solidFill>
                <a:srgbClr val="1F1F1F"/>
              </a:solidFill>
            </a:endParaRPr>
          </a:p>
          <a:p>
            <a:pPr indent="0" lvl="0" marL="0" rtl="0" algn="l">
              <a:spcBef>
                <a:spcPts val="0"/>
              </a:spcBef>
              <a:spcAft>
                <a:spcPts val="0"/>
              </a:spcAft>
              <a:buNone/>
            </a:pPr>
            <a:r>
              <a:rPr lang="en" sz="1100">
                <a:solidFill>
                  <a:srgbClr val="1F1F1F"/>
                </a:solidFill>
              </a:rPr>
              <a:t>Python, TensorFlow, Keras</a:t>
            </a:r>
            <a:endParaRPr sz="1100">
              <a:solidFill>
                <a:srgbClr val="1F1F1F"/>
              </a:solidFill>
            </a:endParaRPr>
          </a:p>
          <a:p>
            <a:pPr indent="0" lvl="0" marL="0" rtl="0" algn="l">
              <a:spcBef>
                <a:spcPts val="0"/>
              </a:spcBef>
              <a:spcAft>
                <a:spcPts val="0"/>
              </a:spcAft>
              <a:buNone/>
            </a:pPr>
            <a:r>
              <a:rPr b="1" lang="en" sz="1100">
                <a:solidFill>
                  <a:srgbClr val="1F1F1F"/>
                </a:solidFill>
              </a:rPr>
              <a:t>Cloud</a:t>
            </a:r>
            <a:endParaRPr b="1" sz="1100">
              <a:solidFill>
                <a:srgbClr val="1F1F1F"/>
              </a:solidFill>
            </a:endParaRPr>
          </a:p>
          <a:p>
            <a:pPr indent="0" lvl="0" marL="0" rtl="0" algn="l">
              <a:spcBef>
                <a:spcPts val="0"/>
              </a:spcBef>
              <a:spcAft>
                <a:spcPts val="0"/>
              </a:spcAft>
              <a:buNone/>
            </a:pPr>
            <a:r>
              <a:rPr lang="en" sz="1100">
                <a:solidFill>
                  <a:srgbClr val="1F1F1F"/>
                </a:solidFill>
              </a:rPr>
              <a:t>AWS (Lambda/S3) or Google Cloud (Vertex AI)</a:t>
            </a:r>
            <a:endParaRPr sz="1100">
              <a:solidFill>
                <a:srgbClr val="1F1F1F"/>
              </a:solidFill>
            </a:endParaRPr>
          </a:p>
          <a:p>
            <a:pPr indent="0" lvl="0" marL="0" rtl="0" algn="l">
              <a:spcBef>
                <a:spcPts val="0"/>
              </a:spcBef>
              <a:spcAft>
                <a:spcPts val="0"/>
              </a:spcAft>
              <a:buNone/>
            </a:pPr>
            <a:r>
              <a:rPr b="1" lang="en" sz="1100">
                <a:solidFill>
                  <a:srgbClr val="1F1F1F"/>
                </a:solidFill>
              </a:rPr>
              <a:t>API</a:t>
            </a:r>
            <a:endParaRPr b="1" sz="1100">
              <a:solidFill>
                <a:srgbClr val="1F1F1F"/>
              </a:solidFill>
            </a:endParaRPr>
          </a:p>
          <a:p>
            <a:pPr indent="0" lvl="0" marL="0" rtl="0" algn="l">
              <a:spcBef>
                <a:spcPts val="0"/>
              </a:spcBef>
              <a:spcAft>
                <a:spcPts val="0"/>
              </a:spcAft>
              <a:buNone/>
            </a:pPr>
            <a:r>
              <a:rPr lang="en" sz="1100">
                <a:solidFill>
                  <a:srgbClr val="1F1F1F"/>
                </a:solidFill>
              </a:rPr>
              <a:t>REST API / FastAPI</a:t>
            </a:r>
            <a:endParaRPr sz="1100">
              <a:solidFill>
                <a:srgbClr val="1F1F1F"/>
              </a:solidFill>
            </a:endParaRPr>
          </a:p>
          <a:p>
            <a:pPr indent="0" lvl="0" marL="0" rtl="0" algn="l">
              <a:spcBef>
                <a:spcPts val="0"/>
              </a:spcBef>
              <a:spcAft>
                <a:spcPts val="0"/>
              </a:spcAft>
              <a:buNone/>
            </a:pPr>
            <a:r>
              <a:rPr b="1" lang="en" sz="1100">
                <a:solidFill>
                  <a:srgbClr val="1F1F1F"/>
                </a:solidFill>
              </a:rPr>
              <a:t>Database</a:t>
            </a:r>
            <a:endParaRPr b="1" sz="1100">
              <a:solidFill>
                <a:srgbClr val="1F1F1F"/>
              </a:solidFill>
            </a:endParaRPr>
          </a:p>
          <a:p>
            <a:pPr indent="0" lvl="0" marL="0" rtl="0" algn="l">
              <a:spcBef>
                <a:spcPts val="0"/>
              </a:spcBef>
              <a:spcAft>
                <a:spcPts val="0"/>
              </a:spcAft>
              <a:buNone/>
            </a:pPr>
            <a:r>
              <a:rPr lang="en" sz="1100">
                <a:solidFill>
                  <a:srgbClr val="1F1F1F"/>
                </a:solidFill>
              </a:rPr>
              <a:t>Firebase or MongoDB</a:t>
            </a:r>
            <a:endParaRPr sz="1100">
              <a:solidFill>
                <a:srgbClr val="1F1F1F"/>
              </a:solidFill>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AI Module - Data Acquisition</a:t>
            </a:r>
            <a:endParaRPr b="1" sz="2400"/>
          </a:p>
          <a:p>
            <a:pPr indent="0" lvl="0" marL="0" rtl="0" algn="l">
              <a:spcBef>
                <a:spcPts val="400"/>
              </a:spcBef>
              <a:spcAft>
                <a:spcPts val="0"/>
              </a:spcAft>
              <a:buNone/>
            </a:pPr>
            <a:r>
              <a:t/>
            </a:r>
            <a:endParaRPr/>
          </a:p>
        </p:txBody>
      </p:sp>
      <p:sp>
        <p:nvSpPr>
          <p:cNvPr id="97" name="Google Shape;97;p20"/>
          <p:cNvSpPr txBox="1"/>
          <p:nvPr>
            <p:ph idx="1" type="body"/>
          </p:nvPr>
        </p:nvSpPr>
        <p:spPr>
          <a:xfrm>
            <a:off x="903875" y="1152475"/>
            <a:ext cx="79284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b="1" lang="en" sz="2400">
                <a:solidFill>
                  <a:schemeClr val="dk1"/>
                </a:solidFill>
              </a:rPr>
              <a:t>Dataset Source:</a:t>
            </a:r>
            <a:r>
              <a:rPr lang="en" sz="2400">
                <a:solidFill>
                  <a:schemeClr val="dk1"/>
                </a:solidFill>
              </a:rPr>
              <a:t> PlantVillage dataset or custom-curated images.</a:t>
            </a:r>
            <a:endParaRPr sz="2400">
              <a:solidFill>
                <a:schemeClr val="dk1"/>
              </a:solidFill>
            </a:endParaRPr>
          </a:p>
          <a:p>
            <a:pPr indent="-381000" lvl="0" marL="457200" rtl="0" algn="l">
              <a:spcBef>
                <a:spcPts val="0"/>
              </a:spcBef>
              <a:spcAft>
                <a:spcPts val="0"/>
              </a:spcAft>
              <a:buClr>
                <a:schemeClr val="dk1"/>
              </a:buClr>
              <a:buSzPts val="2400"/>
              <a:buChar char="●"/>
            </a:pPr>
            <a:r>
              <a:rPr b="1" lang="en" sz="2400">
                <a:solidFill>
                  <a:schemeClr val="dk1"/>
                </a:solidFill>
              </a:rPr>
              <a:t>Classes:</a:t>
            </a:r>
            <a:r>
              <a:rPr lang="en" sz="2400">
                <a:solidFill>
                  <a:schemeClr val="dk1"/>
                </a:solidFill>
              </a:rPr>
              <a:t> Healthy leaves vs. Specific diseases (e.g., Rust, Scab, Blight).</a:t>
            </a:r>
            <a:endParaRPr sz="2400">
              <a:solidFill>
                <a:schemeClr val="dk1"/>
              </a:solidFill>
            </a:endParaRPr>
          </a:p>
          <a:p>
            <a:pPr indent="-381000" lvl="0" marL="457200" rtl="0" algn="l">
              <a:spcBef>
                <a:spcPts val="0"/>
              </a:spcBef>
              <a:spcAft>
                <a:spcPts val="0"/>
              </a:spcAft>
              <a:buClr>
                <a:schemeClr val="dk1"/>
              </a:buClr>
              <a:buSzPts val="2400"/>
              <a:buChar char="●"/>
            </a:pPr>
            <a:r>
              <a:rPr b="1" lang="en" sz="2400">
                <a:solidFill>
                  <a:schemeClr val="dk1"/>
                </a:solidFill>
              </a:rPr>
              <a:t>Diversity:</a:t>
            </a:r>
            <a:r>
              <a:rPr lang="en" sz="2400">
                <a:solidFill>
                  <a:schemeClr val="dk1"/>
                </a:solidFill>
              </a:rPr>
              <a:t> Images captured in varying lighting, angles, and backgrounds.</a:t>
            </a:r>
            <a:endParaRPr sz="2400">
              <a:solidFill>
                <a:schemeClr val="dk1"/>
              </a:solidFill>
            </a:endParaRPr>
          </a:p>
          <a:p>
            <a:pPr indent="0" lvl="0" marL="0" rtl="0" algn="l">
              <a:spcBef>
                <a:spcPts val="1200"/>
              </a:spcBef>
              <a:spcAft>
                <a:spcPts val="1200"/>
              </a:spcAft>
              <a:buNone/>
            </a:pPr>
            <a:r>
              <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Data </a:t>
            </a:r>
            <a:r>
              <a:rPr b="1" lang="en" sz="2400"/>
              <a:t>Preprocessing</a:t>
            </a:r>
            <a:r>
              <a:rPr b="1" lang="en" sz="2400"/>
              <a:t> Pipeline</a:t>
            </a:r>
            <a:endParaRPr b="1" sz="2400"/>
          </a:p>
          <a:p>
            <a:pPr indent="0" lvl="0" marL="0" rtl="0" algn="l">
              <a:spcBef>
                <a:spcPts val="400"/>
              </a:spcBef>
              <a:spcAft>
                <a:spcPts val="0"/>
              </a:spcAft>
              <a:buNone/>
            </a:pPr>
            <a:r>
              <a:t/>
            </a:r>
            <a:endParaRPr/>
          </a:p>
        </p:txBody>
      </p:sp>
      <p:sp>
        <p:nvSpPr>
          <p:cNvPr id="103" name="Google Shape;103;p21"/>
          <p:cNvSpPr txBox="1"/>
          <p:nvPr>
            <p:ph idx="1" type="body"/>
          </p:nvPr>
        </p:nvSpPr>
        <p:spPr>
          <a:xfrm>
            <a:off x="903875" y="1152475"/>
            <a:ext cx="73281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406400" lvl="0" marL="457200" rtl="0" algn="l">
              <a:lnSpc>
                <a:spcPct val="95000"/>
              </a:lnSpc>
              <a:spcBef>
                <a:spcPts val="0"/>
              </a:spcBef>
              <a:spcAft>
                <a:spcPts val="0"/>
              </a:spcAft>
              <a:buClr>
                <a:schemeClr val="dk1"/>
              </a:buClr>
              <a:buSzPts val="2800"/>
              <a:buChar char="★"/>
            </a:pPr>
            <a:r>
              <a:rPr b="1" lang="en" sz="2800">
                <a:solidFill>
                  <a:schemeClr val="dk1"/>
                </a:solidFill>
              </a:rPr>
              <a:t>Resizing:</a:t>
            </a:r>
            <a:r>
              <a:rPr lang="en" sz="2800">
                <a:solidFill>
                  <a:schemeClr val="dk1"/>
                </a:solidFill>
              </a:rPr>
              <a:t> Standardizing all images to (e.g., 224x224).</a:t>
            </a:r>
            <a:endParaRPr sz="2800">
              <a:solidFill>
                <a:schemeClr val="dk1"/>
              </a:solidFill>
            </a:endParaRPr>
          </a:p>
          <a:p>
            <a:pPr indent="-406400" lvl="0" marL="457200" rtl="0" algn="l">
              <a:lnSpc>
                <a:spcPct val="95000"/>
              </a:lnSpc>
              <a:spcBef>
                <a:spcPts val="0"/>
              </a:spcBef>
              <a:spcAft>
                <a:spcPts val="0"/>
              </a:spcAft>
              <a:buClr>
                <a:schemeClr val="dk1"/>
              </a:buClr>
              <a:buSzPts val="2800"/>
              <a:buChar char="★"/>
            </a:pPr>
            <a:r>
              <a:rPr b="1" lang="en" sz="2800">
                <a:solidFill>
                  <a:schemeClr val="dk1"/>
                </a:solidFill>
              </a:rPr>
              <a:t>Normalization:</a:t>
            </a:r>
            <a:r>
              <a:rPr lang="en" sz="2800">
                <a:solidFill>
                  <a:schemeClr val="dk1"/>
                </a:solidFill>
              </a:rPr>
              <a:t> Scaling pixel values to [0, 1].</a:t>
            </a:r>
            <a:endParaRPr sz="2800">
              <a:solidFill>
                <a:schemeClr val="dk1"/>
              </a:solidFill>
            </a:endParaRPr>
          </a:p>
          <a:p>
            <a:pPr indent="-406400" lvl="0" marL="457200" rtl="0" algn="l">
              <a:lnSpc>
                <a:spcPct val="95000"/>
              </a:lnSpc>
              <a:spcBef>
                <a:spcPts val="0"/>
              </a:spcBef>
              <a:spcAft>
                <a:spcPts val="0"/>
              </a:spcAft>
              <a:buClr>
                <a:schemeClr val="dk1"/>
              </a:buClr>
              <a:buSzPts val="2800"/>
              <a:buChar char="★"/>
            </a:pPr>
            <a:r>
              <a:rPr b="1" lang="en" sz="2800">
                <a:solidFill>
                  <a:schemeClr val="dk1"/>
                </a:solidFill>
              </a:rPr>
              <a:t>Augmentation:</a:t>
            </a:r>
            <a:r>
              <a:rPr lang="en" sz="2800">
                <a:solidFill>
                  <a:schemeClr val="dk1"/>
                </a:solidFill>
              </a:rPr>
              <a:t> Rotation, flipping, and zooming to prevent overfitting.</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Deep Learning Model Architecture</a:t>
            </a:r>
            <a:endParaRPr b="1" sz="2400"/>
          </a:p>
          <a:p>
            <a:pPr indent="0" lvl="0" marL="0" rtl="0" algn="l">
              <a:spcBef>
                <a:spcPts val="400"/>
              </a:spcBef>
              <a:spcAft>
                <a:spcPts val="0"/>
              </a:spcAft>
              <a:buNone/>
            </a:pPr>
            <a:r>
              <a:t/>
            </a:r>
            <a:endParaRPr/>
          </a:p>
        </p:txBody>
      </p:sp>
      <p:sp>
        <p:nvSpPr>
          <p:cNvPr id="109" name="Google Shape;109;p22"/>
          <p:cNvSpPr txBox="1"/>
          <p:nvPr>
            <p:ph idx="1" type="body"/>
          </p:nvPr>
        </p:nvSpPr>
        <p:spPr>
          <a:xfrm>
            <a:off x="892300" y="1152475"/>
            <a:ext cx="76749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87350" lvl="0" marL="457200" rtl="0" algn="l">
              <a:spcBef>
                <a:spcPts val="0"/>
              </a:spcBef>
              <a:spcAft>
                <a:spcPts val="0"/>
              </a:spcAft>
              <a:buClr>
                <a:schemeClr val="dk1"/>
              </a:buClr>
              <a:buSzPts val="2500"/>
              <a:buChar char="❖"/>
            </a:pPr>
            <a:r>
              <a:rPr b="1" lang="en" sz="2500">
                <a:solidFill>
                  <a:schemeClr val="dk1"/>
                </a:solidFill>
              </a:rPr>
              <a:t>Base Model:</a:t>
            </a:r>
            <a:r>
              <a:rPr lang="en" sz="2500">
                <a:solidFill>
                  <a:schemeClr val="dk1"/>
                </a:solidFill>
              </a:rPr>
              <a:t> Transfer Learning using </a:t>
            </a:r>
            <a:r>
              <a:rPr b="1" lang="en" sz="2500">
                <a:solidFill>
                  <a:schemeClr val="dk1"/>
                </a:solidFill>
              </a:rPr>
              <a:t>MobileNetV2</a:t>
            </a:r>
            <a:r>
              <a:rPr lang="en" sz="2500">
                <a:solidFill>
                  <a:schemeClr val="dk1"/>
                </a:solidFill>
              </a:rPr>
              <a:t> or </a:t>
            </a:r>
            <a:r>
              <a:rPr b="1" lang="en" sz="2500">
                <a:solidFill>
                  <a:schemeClr val="dk1"/>
                </a:solidFill>
              </a:rPr>
              <a:t>ResNet50</a:t>
            </a:r>
            <a:r>
              <a:rPr lang="en" sz="2500">
                <a:solidFill>
                  <a:schemeClr val="dk1"/>
                </a:solidFill>
              </a:rPr>
              <a:t>.</a:t>
            </a:r>
            <a:endParaRPr sz="2500">
              <a:solidFill>
                <a:schemeClr val="dk1"/>
              </a:solidFill>
            </a:endParaRPr>
          </a:p>
          <a:p>
            <a:pPr indent="-387350" lvl="0" marL="457200" rtl="0" algn="l">
              <a:spcBef>
                <a:spcPts val="0"/>
              </a:spcBef>
              <a:spcAft>
                <a:spcPts val="0"/>
              </a:spcAft>
              <a:buClr>
                <a:schemeClr val="dk1"/>
              </a:buClr>
              <a:buSzPts val="2500"/>
              <a:buChar char="❖"/>
            </a:pPr>
            <a:r>
              <a:rPr b="1" lang="en" sz="2500">
                <a:solidFill>
                  <a:schemeClr val="dk1"/>
                </a:solidFill>
              </a:rPr>
              <a:t>Why?</a:t>
            </a:r>
            <a:r>
              <a:rPr lang="en" sz="2500">
                <a:solidFill>
                  <a:schemeClr val="dk1"/>
                </a:solidFill>
              </a:rPr>
              <a:t> Pre-trained models offer high accuracy with less training time.</a:t>
            </a:r>
            <a:endParaRPr sz="2500">
              <a:solidFill>
                <a:schemeClr val="dk1"/>
              </a:solidFill>
            </a:endParaRPr>
          </a:p>
          <a:p>
            <a:pPr indent="-387350" lvl="0" marL="457200" rtl="0" algn="l">
              <a:spcBef>
                <a:spcPts val="0"/>
              </a:spcBef>
              <a:spcAft>
                <a:spcPts val="0"/>
              </a:spcAft>
              <a:buClr>
                <a:schemeClr val="dk1"/>
              </a:buClr>
              <a:buSzPts val="2500"/>
              <a:buChar char="❖"/>
            </a:pPr>
            <a:r>
              <a:rPr b="1" lang="en" sz="2500">
                <a:solidFill>
                  <a:schemeClr val="dk1"/>
                </a:solidFill>
              </a:rPr>
              <a:t>Custom Layers:</a:t>
            </a:r>
            <a:r>
              <a:rPr lang="en" sz="2500">
                <a:solidFill>
                  <a:schemeClr val="dk1"/>
                </a:solidFill>
              </a:rPr>
              <a:t> Adding Global Average Pooling and Dense layers for specific tree disease classes.</a:t>
            </a:r>
            <a:endParaRPr sz="2500">
              <a:solidFill>
                <a:schemeClr val="dk1"/>
              </a:solidFill>
            </a:endParaRPr>
          </a:p>
          <a:p>
            <a:pPr indent="0" lvl="0" marL="0" rtl="0" algn="l">
              <a:spcBef>
                <a:spcPts val="1200"/>
              </a:spcBef>
              <a:spcAft>
                <a:spcPts val="1200"/>
              </a:spcAft>
              <a:buNone/>
            </a:pPr>
            <a:r>
              <a:t/>
            </a:r>
            <a:endParaRPr sz="2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Clr>
                <a:schemeClr val="dk1"/>
              </a:buClr>
              <a:buSzPct val="41509"/>
              <a:buFont typeface="Arial"/>
              <a:buNone/>
            </a:pPr>
            <a:r>
              <a:rPr b="1" lang="en" sz="2650"/>
              <a:t>Training &amp; Validation</a:t>
            </a:r>
            <a:endParaRPr b="1" sz="2650"/>
          </a:p>
          <a:p>
            <a:pPr indent="0" lvl="0" marL="0" rtl="0" algn="l">
              <a:spcBef>
                <a:spcPts val="400"/>
              </a:spcBef>
              <a:spcAft>
                <a:spcPts val="0"/>
              </a:spcAft>
              <a:buNone/>
            </a:pPr>
            <a:r>
              <a:t/>
            </a:r>
            <a:endParaRPr/>
          </a:p>
        </p:txBody>
      </p:sp>
      <p:sp>
        <p:nvSpPr>
          <p:cNvPr id="115" name="Google Shape;115;p23"/>
          <p:cNvSpPr txBox="1"/>
          <p:nvPr>
            <p:ph idx="1" type="body"/>
          </p:nvPr>
        </p:nvSpPr>
        <p:spPr>
          <a:xfrm>
            <a:off x="901175" y="1175600"/>
            <a:ext cx="85206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419100" lvl="0" marL="457200" rtl="0" algn="l">
              <a:spcBef>
                <a:spcPts val="0"/>
              </a:spcBef>
              <a:spcAft>
                <a:spcPts val="0"/>
              </a:spcAft>
              <a:buClr>
                <a:schemeClr val="dk1"/>
              </a:buClr>
              <a:buSzPts val="3000"/>
              <a:buChar char="★"/>
            </a:pPr>
            <a:r>
              <a:rPr b="1" lang="en" sz="3000">
                <a:solidFill>
                  <a:schemeClr val="dk1"/>
                </a:solidFill>
              </a:rPr>
              <a:t>Loss Function:</a:t>
            </a:r>
            <a:r>
              <a:rPr lang="en" sz="3000">
                <a:solidFill>
                  <a:schemeClr val="dk1"/>
                </a:solidFill>
              </a:rPr>
              <a:t> Categorical Cross-Entropy.</a:t>
            </a:r>
            <a:endParaRPr sz="3000">
              <a:solidFill>
                <a:schemeClr val="dk1"/>
              </a:solidFill>
            </a:endParaRPr>
          </a:p>
          <a:p>
            <a:pPr indent="-419100" lvl="0" marL="457200" rtl="0" algn="l">
              <a:spcBef>
                <a:spcPts val="0"/>
              </a:spcBef>
              <a:spcAft>
                <a:spcPts val="0"/>
              </a:spcAft>
              <a:buClr>
                <a:schemeClr val="dk1"/>
              </a:buClr>
              <a:buSzPts val="3000"/>
              <a:buChar char="★"/>
            </a:pPr>
            <a:r>
              <a:rPr b="1" lang="en" sz="3000">
                <a:solidFill>
                  <a:schemeClr val="dk1"/>
                </a:solidFill>
              </a:rPr>
              <a:t>Optimizer:</a:t>
            </a:r>
            <a:r>
              <a:rPr lang="en" sz="3000">
                <a:solidFill>
                  <a:schemeClr val="dk1"/>
                </a:solidFill>
              </a:rPr>
              <a:t> Adam Optimizer.</a:t>
            </a:r>
            <a:endParaRPr sz="3000">
              <a:solidFill>
                <a:schemeClr val="dk1"/>
              </a:solidFill>
            </a:endParaRPr>
          </a:p>
          <a:p>
            <a:pPr indent="-419100" lvl="0" marL="457200" rtl="0" algn="l">
              <a:spcBef>
                <a:spcPts val="0"/>
              </a:spcBef>
              <a:spcAft>
                <a:spcPts val="0"/>
              </a:spcAft>
              <a:buClr>
                <a:schemeClr val="dk1"/>
              </a:buClr>
              <a:buSzPts val="3000"/>
              <a:buChar char="★"/>
            </a:pPr>
            <a:r>
              <a:rPr b="1" lang="en" sz="3000">
                <a:solidFill>
                  <a:schemeClr val="dk1"/>
                </a:solidFill>
              </a:rPr>
              <a:t>Split:</a:t>
            </a:r>
            <a:r>
              <a:rPr lang="en" sz="3000">
                <a:solidFill>
                  <a:schemeClr val="dk1"/>
                </a:solidFill>
              </a:rPr>
              <a:t> 80% Training, 10% Validation, 10% Testing.</a:t>
            </a:r>
            <a:endParaRPr sz="3000">
              <a:solidFill>
                <a:schemeClr val="dk1"/>
              </a:solidFill>
            </a:endParaRPr>
          </a:p>
          <a:p>
            <a:pPr indent="-419100" lvl="0" marL="457200" rtl="0" algn="l">
              <a:spcBef>
                <a:spcPts val="0"/>
              </a:spcBef>
              <a:spcAft>
                <a:spcPts val="0"/>
              </a:spcAft>
              <a:buClr>
                <a:schemeClr val="dk1"/>
              </a:buClr>
              <a:buSzPts val="3000"/>
              <a:buChar char="★"/>
            </a:pPr>
            <a:r>
              <a:rPr b="1" lang="en" sz="3000">
                <a:solidFill>
                  <a:schemeClr val="dk1"/>
                </a:solidFill>
              </a:rPr>
              <a:t>Epochs:</a:t>
            </a:r>
            <a:r>
              <a:rPr lang="en" sz="3000">
                <a:solidFill>
                  <a:schemeClr val="dk1"/>
                </a:solidFill>
              </a:rPr>
              <a:t> Monitored via Early Stopping to ensure generalization.</a:t>
            </a:r>
            <a:endParaRPr sz="3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Performance Metrics</a:t>
            </a:r>
            <a:endParaRPr b="1" sz="2400"/>
          </a:p>
          <a:p>
            <a:pPr indent="0" lvl="0" marL="0" rtl="0" algn="l">
              <a:spcBef>
                <a:spcPts val="400"/>
              </a:spcBef>
              <a:spcAft>
                <a:spcPts val="0"/>
              </a:spcAft>
              <a:buNone/>
            </a:pPr>
            <a:r>
              <a:t/>
            </a:r>
            <a:endParaRPr/>
          </a:p>
        </p:txBody>
      </p:sp>
      <p:sp>
        <p:nvSpPr>
          <p:cNvPr id="121" name="Google Shape;121;p24"/>
          <p:cNvSpPr txBox="1"/>
          <p:nvPr>
            <p:ph idx="1" type="body"/>
          </p:nvPr>
        </p:nvSpPr>
        <p:spPr>
          <a:xfrm>
            <a:off x="915425" y="1152475"/>
            <a:ext cx="75822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93700" lvl="0" marL="457200" rtl="0" algn="l">
              <a:spcBef>
                <a:spcPts val="0"/>
              </a:spcBef>
              <a:spcAft>
                <a:spcPts val="0"/>
              </a:spcAft>
              <a:buClr>
                <a:schemeClr val="dk1"/>
              </a:buClr>
              <a:buSzPts val="2600"/>
              <a:buChar char="●"/>
            </a:pPr>
            <a:r>
              <a:rPr b="1" lang="en" sz="2600">
                <a:solidFill>
                  <a:schemeClr val="dk1"/>
                </a:solidFill>
              </a:rPr>
              <a:t>Accuracy:</a:t>
            </a:r>
            <a:r>
              <a:rPr lang="en" sz="2600">
                <a:solidFill>
                  <a:schemeClr val="dk1"/>
                </a:solidFill>
              </a:rPr>
              <a:t> Overall percentage of correct predictions.</a:t>
            </a:r>
            <a:endParaRPr sz="26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Confusion Matrix:</a:t>
            </a:r>
            <a:r>
              <a:rPr lang="en" sz="2600">
                <a:solidFill>
                  <a:schemeClr val="dk1"/>
                </a:solidFill>
              </a:rPr>
              <a:t> Identifying which diseases are being confused by the model.</a:t>
            </a:r>
            <a:endParaRPr sz="26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F1-Score:</a:t>
            </a:r>
            <a:r>
              <a:rPr lang="en" sz="2600">
                <a:solidFill>
                  <a:schemeClr val="dk1"/>
                </a:solidFill>
              </a:rPr>
              <a:t> Balancing Precision and Recall for rare diseases.</a:t>
            </a:r>
            <a:endParaRPr sz="2600">
              <a:solidFill>
                <a:schemeClr val="dk1"/>
              </a:solidFill>
            </a:endParaRPr>
          </a:p>
          <a:p>
            <a:pPr indent="0" lvl="0" marL="0" rtl="0" algn="l">
              <a:spcBef>
                <a:spcPts val="1200"/>
              </a:spcBef>
              <a:spcAft>
                <a:spcPts val="1200"/>
              </a:spcAft>
              <a:buNone/>
            </a:pPr>
            <a:r>
              <a:t/>
            </a:r>
            <a:endParaRPr sz="2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Mobile App Development (Flutter)</a:t>
            </a:r>
            <a:endParaRPr b="1" sz="2400"/>
          </a:p>
          <a:p>
            <a:pPr indent="0" lvl="0" marL="0" rtl="0" algn="l">
              <a:spcBef>
                <a:spcPts val="400"/>
              </a:spcBef>
              <a:spcAft>
                <a:spcPts val="0"/>
              </a:spcAft>
              <a:buNone/>
            </a:pPr>
            <a:r>
              <a:t/>
            </a:r>
            <a:endParaRPr sz="2400"/>
          </a:p>
        </p:txBody>
      </p:sp>
      <p:sp>
        <p:nvSpPr>
          <p:cNvPr id="127" name="Google Shape;127;p25"/>
          <p:cNvSpPr txBox="1"/>
          <p:nvPr>
            <p:ph idx="1" type="body"/>
          </p:nvPr>
        </p:nvSpPr>
        <p:spPr>
          <a:xfrm>
            <a:off x="926975" y="1152475"/>
            <a:ext cx="73050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93700" lvl="0" marL="457200" rtl="0" algn="l">
              <a:spcBef>
                <a:spcPts val="0"/>
              </a:spcBef>
              <a:spcAft>
                <a:spcPts val="0"/>
              </a:spcAft>
              <a:buClr>
                <a:schemeClr val="dk1"/>
              </a:buClr>
              <a:buSzPts val="2600"/>
              <a:buChar char="●"/>
            </a:pPr>
            <a:r>
              <a:rPr b="1" lang="en" sz="2600">
                <a:solidFill>
                  <a:schemeClr val="dk1"/>
                </a:solidFill>
              </a:rPr>
              <a:t>UI/UX:</a:t>
            </a:r>
            <a:r>
              <a:rPr lang="en" sz="2600">
                <a:solidFill>
                  <a:schemeClr val="dk1"/>
                </a:solidFill>
              </a:rPr>
              <a:t> Simple, "one-tap" interface for farmers.</a:t>
            </a:r>
            <a:endParaRPr sz="2600">
              <a:solidFill>
                <a:schemeClr val="dk1"/>
              </a:solidFill>
            </a:endParaRPr>
          </a:p>
          <a:p>
            <a:pPr indent="-393700" lvl="0" marL="457200" rtl="0" algn="l">
              <a:spcBef>
                <a:spcPts val="0"/>
              </a:spcBef>
              <a:spcAft>
                <a:spcPts val="0"/>
              </a:spcAft>
              <a:buSzPts val="2600"/>
              <a:buChar char="●"/>
            </a:pPr>
            <a:r>
              <a:rPr b="1" lang="en" sz="2600">
                <a:solidFill>
                  <a:schemeClr val="dk1"/>
                </a:solidFill>
              </a:rPr>
              <a:t>Plugins:</a:t>
            </a:r>
            <a:r>
              <a:rPr lang="en" sz="2600">
                <a:solidFill>
                  <a:schemeClr val="dk1"/>
                </a:solidFill>
              </a:rPr>
              <a:t> </a:t>
            </a:r>
            <a:r>
              <a:rPr lang="en" sz="2600">
                <a:solidFill>
                  <a:srgbClr val="188038"/>
                </a:solidFill>
                <a:latin typeface="Roboto Mono"/>
                <a:ea typeface="Roboto Mono"/>
                <a:cs typeface="Roboto Mono"/>
                <a:sym typeface="Roboto Mono"/>
              </a:rPr>
              <a:t>camera</a:t>
            </a:r>
            <a:r>
              <a:rPr lang="en" sz="2600">
                <a:solidFill>
                  <a:schemeClr val="dk1"/>
                </a:solidFill>
              </a:rPr>
              <a:t>, </a:t>
            </a:r>
            <a:r>
              <a:rPr lang="en" sz="2600">
                <a:solidFill>
                  <a:srgbClr val="188038"/>
                </a:solidFill>
                <a:latin typeface="Roboto Mono"/>
                <a:ea typeface="Roboto Mono"/>
                <a:cs typeface="Roboto Mono"/>
                <a:sym typeface="Roboto Mono"/>
              </a:rPr>
              <a:t>image_picker</a:t>
            </a:r>
            <a:r>
              <a:rPr lang="en" sz="2600">
                <a:solidFill>
                  <a:schemeClr val="dk1"/>
                </a:solidFill>
              </a:rPr>
              <a:t>, and </a:t>
            </a:r>
            <a:r>
              <a:rPr lang="en" sz="2600">
                <a:solidFill>
                  <a:srgbClr val="188038"/>
                </a:solidFill>
                <a:latin typeface="Roboto Mono"/>
                <a:ea typeface="Roboto Mono"/>
                <a:cs typeface="Roboto Mono"/>
                <a:sym typeface="Roboto Mono"/>
              </a:rPr>
              <a:t>http</a:t>
            </a:r>
            <a:r>
              <a:rPr lang="en" sz="2600">
                <a:solidFill>
                  <a:schemeClr val="dk1"/>
                </a:solidFill>
              </a:rPr>
              <a:t> for API communication.</a:t>
            </a:r>
            <a:endParaRPr sz="26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State Management:</a:t>
            </a:r>
            <a:r>
              <a:rPr lang="en" sz="2600">
                <a:solidFill>
                  <a:schemeClr val="dk1"/>
                </a:solidFill>
              </a:rPr>
              <a:t> Provider or Bloc for handling image upload states.</a:t>
            </a:r>
            <a:endParaRPr sz="2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2400"/>
              <a:t>The Mobile User Journey</a:t>
            </a:r>
            <a:endParaRPr b="1" sz="2400"/>
          </a:p>
          <a:p>
            <a:pPr indent="0" lvl="0" marL="0" rtl="0" algn="l">
              <a:spcBef>
                <a:spcPts val="400"/>
              </a:spcBef>
              <a:spcAft>
                <a:spcPts val="0"/>
              </a:spcAft>
              <a:buNone/>
            </a:pPr>
            <a:r>
              <a:t/>
            </a:r>
            <a:endParaRPr/>
          </a:p>
        </p:txBody>
      </p:sp>
      <p:sp>
        <p:nvSpPr>
          <p:cNvPr id="133" name="Google Shape;133;p26"/>
          <p:cNvSpPr txBox="1"/>
          <p:nvPr>
            <p:ph idx="1" type="body"/>
          </p:nvPr>
        </p:nvSpPr>
        <p:spPr>
          <a:xfrm>
            <a:off x="903875" y="1152475"/>
            <a:ext cx="73512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400050" lvl="0" marL="457200" rtl="0" algn="l">
              <a:lnSpc>
                <a:spcPct val="105000"/>
              </a:lnSpc>
              <a:spcBef>
                <a:spcPts val="0"/>
              </a:spcBef>
              <a:spcAft>
                <a:spcPts val="0"/>
              </a:spcAft>
              <a:buClr>
                <a:schemeClr val="dk1"/>
              </a:buClr>
              <a:buSzPts val="2700"/>
              <a:buChar char="●"/>
            </a:pPr>
            <a:r>
              <a:rPr b="1" lang="en" sz="2700">
                <a:solidFill>
                  <a:schemeClr val="dk1"/>
                </a:solidFill>
              </a:rPr>
              <a:t>Open App:</a:t>
            </a:r>
            <a:r>
              <a:rPr lang="en" sz="2700">
                <a:solidFill>
                  <a:schemeClr val="dk1"/>
                </a:solidFill>
              </a:rPr>
              <a:t> Dashboard showing recent scans.</a:t>
            </a:r>
            <a:endParaRPr sz="2700">
              <a:solidFill>
                <a:schemeClr val="dk1"/>
              </a:solidFill>
            </a:endParaRPr>
          </a:p>
          <a:p>
            <a:pPr indent="-400050" lvl="0" marL="457200" rtl="0" algn="l">
              <a:lnSpc>
                <a:spcPct val="105000"/>
              </a:lnSpc>
              <a:spcBef>
                <a:spcPts val="0"/>
              </a:spcBef>
              <a:spcAft>
                <a:spcPts val="0"/>
              </a:spcAft>
              <a:buClr>
                <a:schemeClr val="dk1"/>
              </a:buClr>
              <a:buSzPts val="2700"/>
              <a:buChar char="●"/>
            </a:pPr>
            <a:r>
              <a:rPr b="1" lang="en" sz="2700">
                <a:solidFill>
                  <a:schemeClr val="dk1"/>
                </a:solidFill>
              </a:rPr>
              <a:t>Capture:</a:t>
            </a:r>
            <a:r>
              <a:rPr lang="en" sz="2700">
                <a:solidFill>
                  <a:schemeClr val="dk1"/>
                </a:solidFill>
              </a:rPr>
              <a:t> Use the camera to snap a leaf.</a:t>
            </a:r>
            <a:endParaRPr sz="2700">
              <a:solidFill>
                <a:schemeClr val="dk1"/>
              </a:solidFill>
            </a:endParaRPr>
          </a:p>
          <a:p>
            <a:pPr indent="-400050" lvl="0" marL="457200" rtl="0" algn="l">
              <a:lnSpc>
                <a:spcPct val="105000"/>
              </a:lnSpc>
              <a:spcBef>
                <a:spcPts val="0"/>
              </a:spcBef>
              <a:spcAft>
                <a:spcPts val="0"/>
              </a:spcAft>
              <a:buClr>
                <a:schemeClr val="dk1"/>
              </a:buClr>
              <a:buSzPts val="2700"/>
              <a:buChar char="●"/>
            </a:pPr>
            <a:r>
              <a:rPr b="1" lang="en" sz="2700">
                <a:solidFill>
                  <a:schemeClr val="dk1"/>
                </a:solidFill>
              </a:rPr>
              <a:t>Upload:</a:t>
            </a:r>
            <a:r>
              <a:rPr lang="en" sz="2700">
                <a:solidFill>
                  <a:schemeClr val="dk1"/>
                </a:solidFill>
              </a:rPr>
              <a:t> Securely send the image to the Cloud API.</a:t>
            </a:r>
            <a:endParaRPr sz="2700">
              <a:solidFill>
                <a:schemeClr val="dk1"/>
              </a:solidFill>
            </a:endParaRPr>
          </a:p>
          <a:p>
            <a:pPr indent="-400050" lvl="0" marL="457200" rtl="0" algn="l">
              <a:lnSpc>
                <a:spcPct val="105000"/>
              </a:lnSpc>
              <a:spcBef>
                <a:spcPts val="0"/>
              </a:spcBef>
              <a:spcAft>
                <a:spcPts val="0"/>
              </a:spcAft>
              <a:buClr>
                <a:schemeClr val="dk1"/>
              </a:buClr>
              <a:buSzPts val="2700"/>
              <a:buChar char="●"/>
            </a:pPr>
            <a:r>
              <a:rPr b="1" lang="en" sz="2700">
                <a:solidFill>
                  <a:schemeClr val="dk1"/>
                </a:solidFill>
              </a:rPr>
              <a:t>Result:</a:t>
            </a:r>
            <a:r>
              <a:rPr lang="en" sz="2700">
                <a:solidFill>
                  <a:schemeClr val="dk1"/>
                </a:solidFill>
              </a:rPr>
              <a:t> View disease name, confidence score, and treatment.</a:t>
            </a:r>
            <a:endParaRPr sz="2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Flowchart: App Logic</a:t>
            </a:r>
            <a:endParaRPr sz="2420"/>
          </a:p>
        </p:txBody>
      </p:sp>
      <p:sp>
        <p:nvSpPr>
          <p:cNvPr id="139" name="Google Shape;139;p27"/>
          <p:cNvSpPr txBox="1"/>
          <p:nvPr>
            <p:ph idx="1" type="body"/>
          </p:nvPr>
        </p:nvSpPr>
        <p:spPr>
          <a:xfrm>
            <a:off x="311700" y="1152475"/>
            <a:ext cx="85206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419100" lvl="0" marL="457200" rtl="0" algn="l">
              <a:spcBef>
                <a:spcPts val="1200"/>
              </a:spcBef>
              <a:spcAft>
                <a:spcPts val="0"/>
              </a:spcAft>
              <a:buClr>
                <a:schemeClr val="dk1"/>
              </a:buClr>
              <a:buSzPts val="3000"/>
              <a:buChar char="●"/>
            </a:pPr>
            <a:r>
              <a:rPr b="1" lang="en" sz="3000">
                <a:solidFill>
                  <a:schemeClr val="dk1"/>
                </a:solidFill>
              </a:rPr>
              <a:t>?</a:t>
            </a:r>
            <a:endParaRPr sz="30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Cloud Deployment Strategy</a:t>
            </a:r>
            <a:endParaRPr b="1" sz="2400"/>
          </a:p>
          <a:p>
            <a:pPr indent="0" lvl="0" marL="0" rtl="0" algn="l">
              <a:spcBef>
                <a:spcPts val="400"/>
              </a:spcBef>
              <a:spcAft>
                <a:spcPts val="0"/>
              </a:spcAft>
              <a:buNone/>
            </a:pPr>
            <a:r>
              <a:t/>
            </a:r>
            <a:endParaRPr/>
          </a:p>
        </p:txBody>
      </p:sp>
      <p:sp>
        <p:nvSpPr>
          <p:cNvPr id="145" name="Google Shape;145;p28"/>
          <p:cNvSpPr txBox="1"/>
          <p:nvPr>
            <p:ph idx="1" type="body"/>
          </p:nvPr>
        </p:nvSpPr>
        <p:spPr>
          <a:xfrm>
            <a:off x="903875" y="1152475"/>
            <a:ext cx="68772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93700" lvl="0" marL="457200" rtl="0" algn="l">
              <a:spcBef>
                <a:spcPts val="0"/>
              </a:spcBef>
              <a:spcAft>
                <a:spcPts val="0"/>
              </a:spcAft>
              <a:buClr>
                <a:schemeClr val="dk1"/>
              </a:buClr>
              <a:buSzPts val="2600"/>
              <a:buChar char="●"/>
            </a:pPr>
            <a:r>
              <a:rPr b="1" lang="en" sz="2600">
                <a:solidFill>
                  <a:schemeClr val="dk1"/>
                </a:solidFill>
              </a:rPr>
              <a:t>Choice:</a:t>
            </a:r>
            <a:r>
              <a:rPr lang="en" sz="2600">
                <a:solidFill>
                  <a:schemeClr val="dk1"/>
                </a:solidFill>
              </a:rPr>
              <a:t> Serverless (AWS Lambda / Google Cloud Functions).</a:t>
            </a:r>
            <a:endParaRPr sz="27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Reason:</a:t>
            </a:r>
            <a:r>
              <a:rPr lang="en" sz="2600">
                <a:solidFill>
                  <a:schemeClr val="dk1"/>
                </a:solidFill>
              </a:rPr>
              <a:t> Cost-effective; you only pay when a farmer scans a leaf.</a:t>
            </a:r>
            <a:endParaRPr sz="26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Containerization:</a:t>
            </a:r>
            <a:r>
              <a:rPr lang="en" sz="2600">
                <a:solidFill>
                  <a:schemeClr val="dk1"/>
                </a:solidFill>
              </a:rPr>
              <a:t> Model packaged in a </a:t>
            </a:r>
            <a:r>
              <a:rPr b="1" lang="en" sz="2600">
                <a:solidFill>
                  <a:schemeClr val="dk1"/>
                </a:solidFill>
              </a:rPr>
              <a:t>Docker</a:t>
            </a:r>
            <a:r>
              <a:rPr lang="en" sz="2600">
                <a:solidFill>
                  <a:schemeClr val="dk1"/>
                </a:solidFill>
              </a:rPr>
              <a:t> container for consistency.</a:t>
            </a:r>
            <a:endParaRPr sz="2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Backend Data Flow</a:t>
            </a:r>
            <a:endParaRPr b="1" sz="2400"/>
          </a:p>
          <a:p>
            <a:pPr indent="0" lvl="0" marL="0" rtl="0" algn="l">
              <a:spcBef>
                <a:spcPts val="400"/>
              </a:spcBef>
              <a:spcAft>
                <a:spcPts val="0"/>
              </a:spcAft>
              <a:buNone/>
            </a:pPr>
            <a:r>
              <a:t/>
            </a:r>
            <a:endParaRPr/>
          </a:p>
        </p:txBody>
      </p:sp>
      <p:sp>
        <p:nvSpPr>
          <p:cNvPr id="151" name="Google Shape;151;p29"/>
          <p:cNvSpPr txBox="1"/>
          <p:nvPr>
            <p:ph idx="1" type="body"/>
          </p:nvPr>
        </p:nvSpPr>
        <p:spPr>
          <a:xfrm>
            <a:off x="915425" y="1152475"/>
            <a:ext cx="7362600" cy="32559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93700" lvl="0" marL="457200" rtl="0" algn="l">
              <a:spcBef>
                <a:spcPts val="0"/>
              </a:spcBef>
              <a:spcAft>
                <a:spcPts val="0"/>
              </a:spcAft>
              <a:buClr>
                <a:schemeClr val="dk1"/>
              </a:buClr>
              <a:buSzPts val="2600"/>
              <a:buChar char="●"/>
            </a:pPr>
            <a:r>
              <a:rPr lang="en" sz="2600">
                <a:solidFill>
                  <a:schemeClr val="dk1"/>
                </a:solidFill>
              </a:rPr>
              <a:t>API receives Base64 or Multi-part image.</a:t>
            </a:r>
            <a:endParaRPr sz="2600">
              <a:solidFill>
                <a:schemeClr val="dk1"/>
              </a:solidFill>
            </a:endParaRPr>
          </a:p>
          <a:p>
            <a:pPr indent="-393700" lvl="0" marL="457200" rtl="0" algn="l">
              <a:spcBef>
                <a:spcPts val="0"/>
              </a:spcBef>
              <a:spcAft>
                <a:spcPts val="0"/>
              </a:spcAft>
              <a:buClr>
                <a:schemeClr val="dk1"/>
              </a:buClr>
              <a:buSzPts val="2600"/>
              <a:buChar char="●"/>
            </a:pPr>
            <a:r>
              <a:rPr lang="en" sz="2600">
                <a:solidFill>
                  <a:schemeClr val="dk1"/>
                </a:solidFill>
              </a:rPr>
              <a:t>Cloud Function triggers.</a:t>
            </a:r>
            <a:endParaRPr sz="2600">
              <a:solidFill>
                <a:schemeClr val="dk1"/>
              </a:solidFill>
            </a:endParaRPr>
          </a:p>
          <a:p>
            <a:pPr indent="-393700" lvl="0" marL="457200" rtl="0" algn="l">
              <a:spcBef>
                <a:spcPts val="0"/>
              </a:spcBef>
              <a:spcAft>
                <a:spcPts val="0"/>
              </a:spcAft>
              <a:buClr>
                <a:schemeClr val="dk1"/>
              </a:buClr>
              <a:buSzPts val="2600"/>
              <a:buChar char="●"/>
            </a:pPr>
            <a:r>
              <a:rPr lang="en" sz="2600">
                <a:solidFill>
                  <a:schemeClr val="dk1"/>
                </a:solidFill>
              </a:rPr>
              <a:t>Image is passed to the loaded AI Model.</a:t>
            </a:r>
            <a:endParaRPr sz="2600">
              <a:solidFill>
                <a:schemeClr val="dk1"/>
              </a:solidFill>
            </a:endParaRPr>
          </a:p>
          <a:p>
            <a:pPr indent="-393700" lvl="0" marL="457200" rtl="0" algn="l">
              <a:spcBef>
                <a:spcPts val="0"/>
              </a:spcBef>
              <a:spcAft>
                <a:spcPts val="0"/>
              </a:spcAft>
              <a:buSzPts val="2600"/>
              <a:buChar char="●"/>
            </a:pPr>
            <a:r>
              <a:rPr lang="en" sz="2600">
                <a:solidFill>
                  <a:schemeClr val="dk1"/>
                </a:solidFill>
              </a:rPr>
              <a:t>JSON response returned: </a:t>
            </a:r>
            <a:endParaRPr sz="2600">
              <a:solidFill>
                <a:schemeClr val="dk1"/>
              </a:solidFill>
            </a:endParaRPr>
          </a:p>
          <a:p>
            <a:pPr indent="0" lvl="0" marL="457200" rtl="0" algn="l">
              <a:spcBef>
                <a:spcPts val="1200"/>
              </a:spcBef>
              <a:spcAft>
                <a:spcPts val="1200"/>
              </a:spcAft>
              <a:buNone/>
            </a:pPr>
            <a:r>
              <a:rPr lang="en" sz="2600">
                <a:solidFill>
                  <a:srgbClr val="188038"/>
                </a:solidFill>
                <a:latin typeface="Roboto Mono"/>
                <a:ea typeface="Roboto Mono"/>
                <a:cs typeface="Roboto Mono"/>
                <a:sym typeface="Roboto Mono"/>
              </a:rPr>
              <a:t>{ "disease": "Apple Scab", "confidence": 0.98 }</a:t>
            </a:r>
            <a:r>
              <a:rPr lang="en" sz="2600">
                <a:solidFill>
                  <a:schemeClr val="dk1"/>
                </a:solidFill>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Security &amp; Data Privacy</a:t>
            </a:r>
            <a:endParaRPr b="1" sz="2400"/>
          </a:p>
          <a:p>
            <a:pPr indent="0" lvl="0" marL="0" rtl="0" algn="l">
              <a:spcBef>
                <a:spcPts val="400"/>
              </a:spcBef>
              <a:spcAft>
                <a:spcPts val="0"/>
              </a:spcAft>
              <a:buNone/>
            </a:pPr>
            <a:r>
              <a:t/>
            </a:r>
            <a:endParaRPr/>
          </a:p>
        </p:txBody>
      </p:sp>
      <p:sp>
        <p:nvSpPr>
          <p:cNvPr id="157" name="Google Shape;157;p30"/>
          <p:cNvSpPr txBox="1"/>
          <p:nvPr>
            <p:ph idx="1" type="body"/>
          </p:nvPr>
        </p:nvSpPr>
        <p:spPr>
          <a:xfrm>
            <a:off x="903875" y="1152475"/>
            <a:ext cx="73395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406400" lvl="0" marL="457200" rtl="0" algn="l">
              <a:lnSpc>
                <a:spcPct val="95000"/>
              </a:lnSpc>
              <a:spcBef>
                <a:spcPts val="0"/>
              </a:spcBef>
              <a:spcAft>
                <a:spcPts val="0"/>
              </a:spcAft>
              <a:buClr>
                <a:schemeClr val="dk1"/>
              </a:buClr>
              <a:buSzPts val="2800"/>
              <a:buChar char="●"/>
            </a:pPr>
            <a:r>
              <a:rPr b="1" lang="en" sz="2800">
                <a:solidFill>
                  <a:schemeClr val="dk1"/>
                </a:solidFill>
              </a:rPr>
              <a:t>Encryption:</a:t>
            </a:r>
            <a:r>
              <a:rPr lang="en" sz="2800">
                <a:solidFill>
                  <a:schemeClr val="dk1"/>
                </a:solidFill>
              </a:rPr>
              <a:t> HTTPS for all data in transit.</a:t>
            </a:r>
            <a:endParaRPr sz="2800">
              <a:solidFill>
                <a:schemeClr val="dk1"/>
              </a:solidFill>
            </a:endParaRPr>
          </a:p>
          <a:p>
            <a:pPr indent="-406400" lvl="0" marL="457200" rtl="0" algn="l">
              <a:lnSpc>
                <a:spcPct val="95000"/>
              </a:lnSpc>
              <a:spcBef>
                <a:spcPts val="0"/>
              </a:spcBef>
              <a:spcAft>
                <a:spcPts val="0"/>
              </a:spcAft>
              <a:buClr>
                <a:schemeClr val="dk1"/>
              </a:buClr>
              <a:buSzPts val="2800"/>
              <a:buChar char="●"/>
            </a:pPr>
            <a:r>
              <a:rPr b="1" lang="en" sz="2800">
                <a:solidFill>
                  <a:schemeClr val="dk1"/>
                </a:solidFill>
              </a:rPr>
              <a:t>Anonymization:</a:t>
            </a:r>
            <a:r>
              <a:rPr lang="en" sz="2800">
                <a:solidFill>
                  <a:schemeClr val="dk1"/>
                </a:solidFill>
              </a:rPr>
              <a:t> User images stored without PII (Personally Identifiable Information).</a:t>
            </a:r>
            <a:endParaRPr sz="2800">
              <a:solidFill>
                <a:schemeClr val="dk1"/>
              </a:solidFill>
            </a:endParaRPr>
          </a:p>
          <a:p>
            <a:pPr indent="-406400" lvl="0" marL="457200" rtl="0" algn="l">
              <a:lnSpc>
                <a:spcPct val="95000"/>
              </a:lnSpc>
              <a:spcBef>
                <a:spcPts val="0"/>
              </a:spcBef>
              <a:spcAft>
                <a:spcPts val="0"/>
              </a:spcAft>
              <a:buClr>
                <a:schemeClr val="dk1"/>
              </a:buClr>
              <a:buSzPts val="2800"/>
              <a:buChar char="●"/>
            </a:pPr>
            <a:r>
              <a:rPr b="1" lang="en" sz="2800">
                <a:solidFill>
                  <a:schemeClr val="dk1"/>
                </a:solidFill>
              </a:rPr>
              <a:t>Access Control:</a:t>
            </a:r>
            <a:r>
              <a:rPr lang="en" sz="2800">
                <a:solidFill>
                  <a:schemeClr val="dk1"/>
                </a:solidFill>
              </a:rPr>
              <a:t> API keys to prevent unauthorized resource usage.</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21385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Step-by-Step Implementation:</a:t>
            </a:r>
            <a:endParaRPr b="1" sz="2400"/>
          </a:p>
          <a:p>
            <a:pPr indent="0" lvl="0" marL="0" rtl="0" algn="l">
              <a:spcBef>
                <a:spcPts val="400"/>
              </a:spcBef>
              <a:spcAft>
                <a:spcPts val="0"/>
              </a:spcAft>
              <a:buNone/>
            </a:pPr>
            <a:r>
              <a:t/>
            </a:r>
            <a:endParaRPr/>
          </a:p>
        </p:txBody>
      </p:sp>
      <p:sp>
        <p:nvSpPr>
          <p:cNvPr id="163" name="Google Shape;163;p31"/>
          <p:cNvSpPr txBox="1"/>
          <p:nvPr>
            <p:ph idx="1" type="body"/>
          </p:nvPr>
        </p:nvSpPr>
        <p:spPr>
          <a:xfrm>
            <a:off x="626475" y="1017725"/>
            <a:ext cx="7628700" cy="3829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lnSpcReduction="10000"/>
          </a:bodyPr>
          <a:lstStyle/>
          <a:p>
            <a:pPr indent="-381000" lvl="0" marL="457200" rtl="0" algn="l">
              <a:spcBef>
                <a:spcPts val="1400"/>
              </a:spcBef>
              <a:spcAft>
                <a:spcPts val="0"/>
              </a:spcAft>
              <a:buClr>
                <a:schemeClr val="dk1"/>
              </a:buClr>
              <a:buSzPts val="2400"/>
              <a:buChar char="➢"/>
            </a:pPr>
            <a:r>
              <a:rPr b="1" lang="en" sz="2400">
                <a:solidFill>
                  <a:schemeClr val="dk1"/>
                </a:solidFill>
              </a:rPr>
              <a:t> </a:t>
            </a:r>
            <a:r>
              <a:rPr b="1" lang="en" sz="1600">
                <a:solidFill>
                  <a:schemeClr val="dk1"/>
                </a:solidFill>
              </a:rPr>
              <a:t>Phase 1</a:t>
            </a:r>
            <a:br>
              <a:rPr b="1" lang="en" sz="2400">
                <a:solidFill>
                  <a:schemeClr val="dk1"/>
                </a:solidFill>
              </a:rPr>
            </a:br>
            <a:r>
              <a:rPr b="1" lang="en" sz="1400">
                <a:solidFill>
                  <a:schemeClr val="dk1"/>
                </a:solidFill>
              </a:rPr>
              <a:t>Goal: </a:t>
            </a:r>
            <a:r>
              <a:rPr lang="en" sz="1400">
                <a:solidFill>
                  <a:schemeClr val="dk1"/>
                </a:solidFill>
              </a:rPr>
              <a:t>Data &amp; Environment Setup.</a:t>
            </a:r>
            <a:br>
              <a:rPr lang="en" sz="1400">
                <a:solidFill>
                  <a:schemeClr val="dk1"/>
                </a:solidFill>
              </a:rPr>
            </a:br>
            <a:r>
              <a:rPr b="1" lang="en" sz="1400">
                <a:solidFill>
                  <a:schemeClr val="dk1"/>
                </a:solidFill>
              </a:rPr>
              <a:t>Actions:</a:t>
            </a:r>
            <a:r>
              <a:rPr lang="en" sz="1400">
                <a:solidFill>
                  <a:schemeClr val="dk1"/>
                </a:solidFill>
              </a:rPr>
              <a:t> Collect images, set up Python environment, and initialize Flutter project</a:t>
            </a:r>
            <a:endParaRPr sz="1400">
              <a:solidFill>
                <a:schemeClr val="dk1"/>
              </a:solidFill>
            </a:endParaRPr>
          </a:p>
          <a:p>
            <a:pPr indent="-376551" lvl="0" marL="457200" rtl="0" algn="l">
              <a:spcBef>
                <a:spcPts val="0"/>
              </a:spcBef>
              <a:spcAft>
                <a:spcPts val="0"/>
              </a:spcAft>
              <a:buClr>
                <a:schemeClr val="dk1"/>
              </a:buClr>
              <a:buSzPts val="2330"/>
              <a:buChar char="➢"/>
            </a:pPr>
            <a:r>
              <a:rPr b="1" lang="en" sz="1600">
                <a:solidFill>
                  <a:schemeClr val="dk1"/>
                </a:solidFill>
              </a:rPr>
              <a:t>Phase 2</a:t>
            </a:r>
            <a:br>
              <a:rPr b="1" lang="en" sz="2329">
                <a:solidFill>
                  <a:schemeClr val="dk1"/>
                </a:solidFill>
              </a:rPr>
            </a:br>
            <a:r>
              <a:rPr b="1" lang="en" sz="1400">
                <a:solidFill>
                  <a:schemeClr val="dk1"/>
                </a:solidFill>
              </a:rPr>
              <a:t>Goal:</a:t>
            </a:r>
            <a:r>
              <a:rPr lang="en" sz="1400">
                <a:solidFill>
                  <a:schemeClr val="dk1"/>
                </a:solidFill>
              </a:rPr>
              <a:t> Model Development</a:t>
            </a:r>
            <a:br>
              <a:rPr lang="en" sz="1400">
                <a:solidFill>
                  <a:schemeClr val="dk1"/>
                </a:solidFill>
              </a:rPr>
            </a:br>
            <a:r>
              <a:rPr b="1" lang="en" sz="1400">
                <a:solidFill>
                  <a:schemeClr val="dk1"/>
                </a:solidFill>
              </a:rPr>
              <a:t>Actions:</a:t>
            </a:r>
            <a:r>
              <a:rPr lang="en" sz="1400">
                <a:solidFill>
                  <a:schemeClr val="dk1"/>
                </a:solidFill>
              </a:rPr>
              <a:t> Train the CNN, validate results, and export to </a:t>
            </a:r>
            <a:r>
              <a:rPr lang="en" sz="1400">
                <a:solidFill>
                  <a:srgbClr val="188038"/>
                </a:solidFill>
                <a:latin typeface="Roboto Mono"/>
                <a:ea typeface="Roboto Mono"/>
                <a:cs typeface="Roboto Mono"/>
                <a:sym typeface="Roboto Mono"/>
              </a:rPr>
              <a:t>.tflite</a:t>
            </a:r>
            <a:r>
              <a:rPr lang="en" sz="1400">
                <a:solidFill>
                  <a:schemeClr val="dk1"/>
                </a:solidFill>
              </a:rPr>
              <a:t> or </a:t>
            </a:r>
            <a:r>
              <a:rPr lang="en" sz="1400">
                <a:solidFill>
                  <a:srgbClr val="188038"/>
                </a:solidFill>
                <a:latin typeface="Roboto Mono"/>
                <a:ea typeface="Roboto Mono"/>
                <a:cs typeface="Roboto Mono"/>
                <a:sym typeface="Roboto Mono"/>
              </a:rPr>
              <a:t>.h5</a:t>
            </a:r>
            <a:r>
              <a:rPr lang="en" sz="1400">
                <a:solidFill>
                  <a:schemeClr val="dk1"/>
                </a:solidFill>
              </a:rPr>
              <a:t> format</a:t>
            </a:r>
            <a:endParaRPr sz="1400">
              <a:solidFill>
                <a:schemeClr val="dk1"/>
              </a:solidFill>
            </a:endParaRPr>
          </a:p>
          <a:p>
            <a:pPr indent="-376551" lvl="0" marL="457200" rtl="0" algn="l">
              <a:spcBef>
                <a:spcPts val="0"/>
              </a:spcBef>
              <a:spcAft>
                <a:spcPts val="0"/>
              </a:spcAft>
              <a:buClr>
                <a:schemeClr val="dk1"/>
              </a:buClr>
              <a:buSzPts val="2330"/>
              <a:buChar char="➢"/>
            </a:pPr>
            <a:r>
              <a:rPr b="1" lang="en" sz="1600">
                <a:solidFill>
                  <a:schemeClr val="dk1"/>
                </a:solidFill>
              </a:rPr>
              <a:t>Phase 3</a:t>
            </a:r>
            <a:br>
              <a:rPr b="1" lang="en" sz="2329">
                <a:solidFill>
                  <a:schemeClr val="dk1"/>
                </a:solidFill>
              </a:rPr>
            </a:br>
            <a:r>
              <a:rPr b="1" lang="en" sz="1400">
                <a:solidFill>
                  <a:schemeClr val="dk1"/>
                </a:solidFill>
              </a:rPr>
              <a:t>Goal:</a:t>
            </a:r>
            <a:r>
              <a:rPr lang="en" sz="1400">
                <a:solidFill>
                  <a:schemeClr val="dk1"/>
                </a:solidFill>
              </a:rPr>
              <a:t> Cloud &amp; API Integration.</a:t>
            </a:r>
            <a:br>
              <a:rPr lang="en" sz="1400">
                <a:solidFill>
                  <a:schemeClr val="dk1"/>
                </a:solidFill>
              </a:rPr>
            </a:br>
            <a:r>
              <a:rPr b="1" lang="en" sz="1400">
                <a:solidFill>
                  <a:schemeClr val="dk1"/>
                </a:solidFill>
              </a:rPr>
              <a:t>Actions:</a:t>
            </a:r>
            <a:r>
              <a:rPr lang="en" sz="1400">
                <a:solidFill>
                  <a:schemeClr val="dk1"/>
                </a:solidFill>
              </a:rPr>
              <a:t> Deploy model as an endpoint; test with Postman.</a:t>
            </a:r>
            <a:endParaRPr b="1" sz="1400">
              <a:solidFill>
                <a:schemeClr val="dk1"/>
              </a:solidFill>
            </a:endParaRPr>
          </a:p>
          <a:p>
            <a:pPr indent="-376551" lvl="0" marL="457200" rtl="0" algn="l">
              <a:spcBef>
                <a:spcPts val="0"/>
              </a:spcBef>
              <a:spcAft>
                <a:spcPts val="0"/>
              </a:spcAft>
              <a:buClr>
                <a:schemeClr val="dk1"/>
              </a:buClr>
              <a:buSzPts val="2330"/>
              <a:buChar char="➢"/>
            </a:pPr>
            <a:r>
              <a:rPr b="1" lang="en" sz="1600">
                <a:solidFill>
                  <a:schemeClr val="dk1"/>
                </a:solidFill>
              </a:rPr>
              <a:t>Phase 4</a:t>
            </a:r>
            <a:br>
              <a:rPr b="1" lang="en" sz="2329">
                <a:solidFill>
                  <a:schemeClr val="dk1"/>
                </a:solidFill>
              </a:rPr>
            </a:br>
            <a:r>
              <a:rPr b="1" lang="en" sz="1400">
                <a:solidFill>
                  <a:schemeClr val="dk1"/>
                </a:solidFill>
              </a:rPr>
              <a:t>Goal:</a:t>
            </a:r>
            <a:r>
              <a:rPr lang="en" sz="1400">
                <a:solidFill>
                  <a:schemeClr val="dk1"/>
                </a:solidFill>
              </a:rPr>
              <a:t> Mobile UI &amp; Integration.</a:t>
            </a:r>
            <a:br>
              <a:rPr lang="en" sz="1400">
                <a:solidFill>
                  <a:schemeClr val="dk1"/>
                </a:solidFill>
              </a:rPr>
            </a:br>
            <a:r>
              <a:rPr b="1" lang="en" sz="1400">
                <a:solidFill>
                  <a:schemeClr val="dk1"/>
                </a:solidFill>
              </a:rPr>
              <a:t>Actions:</a:t>
            </a:r>
            <a:r>
              <a:rPr lang="en" sz="1400">
                <a:solidFill>
                  <a:schemeClr val="dk1"/>
                </a:solidFill>
              </a:rPr>
              <a:t> Connect Flutter to the Cloud API; implement error handling (e.g., "Blurry Image, try again")</a:t>
            </a:r>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400"/>
              </a:spcBef>
              <a:spcAft>
                <a:spcPts val="0"/>
              </a:spcAft>
              <a:buSzPts val="2400"/>
              <a:buChar char="➢"/>
            </a:pPr>
            <a:r>
              <a:rPr b="1" lang="en" sz="2400"/>
              <a:t>Challenges Encountered</a:t>
            </a:r>
            <a:endParaRPr b="1" sz="2400"/>
          </a:p>
          <a:p>
            <a:pPr indent="0" lvl="0" marL="0" rtl="0" algn="l">
              <a:spcBef>
                <a:spcPts val="400"/>
              </a:spcBef>
              <a:spcAft>
                <a:spcPts val="0"/>
              </a:spcAft>
              <a:buNone/>
            </a:pPr>
            <a:r>
              <a:t/>
            </a:r>
            <a:endParaRPr/>
          </a:p>
        </p:txBody>
      </p:sp>
      <p:sp>
        <p:nvSpPr>
          <p:cNvPr id="169" name="Google Shape;169;p32"/>
          <p:cNvSpPr txBox="1"/>
          <p:nvPr>
            <p:ph idx="1" type="body"/>
          </p:nvPr>
        </p:nvSpPr>
        <p:spPr>
          <a:xfrm>
            <a:off x="903875" y="1152475"/>
            <a:ext cx="68658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93700" lvl="0" marL="457200" rtl="0" algn="l">
              <a:spcBef>
                <a:spcPts val="0"/>
              </a:spcBef>
              <a:spcAft>
                <a:spcPts val="0"/>
              </a:spcAft>
              <a:buClr>
                <a:schemeClr val="dk1"/>
              </a:buClr>
              <a:buSzPts val="2600"/>
              <a:buChar char="●"/>
            </a:pPr>
            <a:r>
              <a:rPr b="1" lang="en" sz="2600">
                <a:solidFill>
                  <a:schemeClr val="dk1"/>
                </a:solidFill>
              </a:rPr>
              <a:t>Background Noise:</a:t>
            </a:r>
            <a:r>
              <a:rPr lang="en" sz="2600">
                <a:solidFill>
                  <a:schemeClr val="dk1"/>
                </a:solidFill>
              </a:rPr>
              <a:t> Real-world photos have soil/hands in the frame.</a:t>
            </a:r>
            <a:endParaRPr sz="26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Connectivity:</a:t>
            </a:r>
            <a:r>
              <a:rPr lang="en" sz="2600">
                <a:solidFill>
                  <a:schemeClr val="dk1"/>
                </a:solidFill>
              </a:rPr>
              <a:t> Poor internet in remote fields.</a:t>
            </a:r>
            <a:endParaRPr sz="26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Lighting:</a:t>
            </a:r>
            <a:r>
              <a:rPr lang="en" sz="2600">
                <a:solidFill>
                  <a:schemeClr val="dk1"/>
                </a:solidFill>
              </a:rPr>
              <a:t> Shadows affecting color-based classification.</a:t>
            </a:r>
            <a:endParaRPr sz="2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400"/>
              </a:spcBef>
              <a:spcAft>
                <a:spcPts val="0"/>
              </a:spcAft>
              <a:buSzPts val="2400"/>
              <a:buChar char="➢"/>
            </a:pPr>
            <a:r>
              <a:rPr b="1" lang="en" sz="2400"/>
              <a:t>Solutions &amp; Optimizations</a:t>
            </a:r>
            <a:endParaRPr b="1" sz="2400"/>
          </a:p>
          <a:p>
            <a:pPr indent="0" lvl="0" marL="0" rtl="0" algn="l">
              <a:spcBef>
                <a:spcPts val="400"/>
              </a:spcBef>
              <a:spcAft>
                <a:spcPts val="0"/>
              </a:spcAft>
              <a:buNone/>
            </a:pPr>
            <a:r>
              <a:t/>
            </a:r>
            <a:endParaRPr/>
          </a:p>
        </p:txBody>
      </p:sp>
      <p:sp>
        <p:nvSpPr>
          <p:cNvPr id="175" name="Google Shape;175;p33"/>
          <p:cNvSpPr txBox="1"/>
          <p:nvPr>
            <p:ph idx="1" type="body"/>
          </p:nvPr>
        </p:nvSpPr>
        <p:spPr>
          <a:xfrm>
            <a:off x="903875" y="1152475"/>
            <a:ext cx="73395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7350" lvl="0" marL="457200" rtl="0" algn="l">
              <a:spcBef>
                <a:spcPts val="0"/>
              </a:spcBef>
              <a:spcAft>
                <a:spcPts val="0"/>
              </a:spcAft>
              <a:buClr>
                <a:schemeClr val="dk1"/>
              </a:buClr>
              <a:buSzPts val="2500"/>
              <a:buChar char="●"/>
            </a:pPr>
            <a:r>
              <a:rPr b="1" lang="en" sz="2500">
                <a:solidFill>
                  <a:schemeClr val="dk1"/>
                </a:solidFill>
              </a:rPr>
              <a:t>Background Noise:</a:t>
            </a:r>
            <a:r>
              <a:rPr lang="en" sz="2500">
                <a:solidFill>
                  <a:schemeClr val="dk1"/>
                </a:solidFill>
              </a:rPr>
              <a:t> Use of "Saliency Maps" to focus the AI on the leaf.</a:t>
            </a:r>
            <a:endParaRPr sz="2500">
              <a:solidFill>
                <a:schemeClr val="dk1"/>
              </a:solidFill>
            </a:endParaRPr>
          </a:p>
          <a:p>
            <a:pPr indent="-387350" lvl="0" marL="457200" rtl="0" algn="l">
              <a:spcBef>
                <a:spcPts val="0"/>
              </a:spcBef>
              <a:spcAft>
                <a:spcPts val="0"/>
              </a:spcAft>
              <a:buClr>
                <a:schemeClr val="dk1"/>
              </a:buClr>
              <a:buSzPts val="2500"/>
              <a:buChar char="●"/>
            </a:pPr>
            <a:r>
              <a:rPr b="1" lang="en" sz="2500">
                <a:solidFill>
                  <a:schemeClr val="dk1"/>
                </a:solidFill>
              </a:rPr>
              <a:t>Connectivity:</a:t>
            </a:r>
            <a:r>
              <a:rPr lang="en" sz="2500">
                <a:solidFill>
                  <a:schemeClr val="dk1"/>
                </a:solidFill>
              </a:rPr>
              <a:t> Implementing a local cache for previously diagnosed diseases.</a:t>
            </a:r>
            <a:endParaRPr sz="2500">
              <a:solidFill>
                <a:schemeClr val="dk1"/>
              </a:solidFill>
            </a:endParaRPr>
          </a:p>
          <a:p>
            <a:pPr indent="-387350" lvl="0" marL="457200" rtl="0" algn="l">
              <a:spcBef>
                <a:spcPts val="0"/>
              </a:spcBef>
              <a:spcAft>
                <a:spcPts val="0"/>
              </a:spcAft>
              <a:buClr>
                <a:schemeClr val="dk1"/>
              </a:buClr>
              <a:buSzPts val="2500"/>
              <a:buChar char="●"/>
            </a:pPr>
            <a:r>
              <a:rPr b="1" lang="en" sz="2500">
                <a:solidFill>
                  <a:schemeClr val="dk1"/>
                </a:solidFill>
              </a:rPr>
              <a:t>Diversity:</a:t>
            </a:r>
            <a:r>
              <a:rPr lang="en" sz="2500">
                <a:solidFill>
                  <a:schemeClr val="dk1"/>
                </a:solidFill>
              </a:rPr>
              <a:t> Training on images with varied lighting conditions.</a:t>
            </a:r>
            <a:endParaRPr sz="2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400"/>
              </a:spcBef>
              <a:spcAft>
                <a:spcPts val="0"/>
              </a:spcAft>
              <a:buSzPts val="2400"/>
              <a:buChar char="➢"/>
            </a:pPr>
            <a:r>
              <a:rPr b="1" lang="en" sz="2400"/>
              <a:t>Real-World Impact</a:t>
            </a:r>
            <a:endParaRPr b="1" sz="2400"/>
          </a:p>
          <a:p>
            <a:pPr indent="0" lvl="0" marL="0" rtl="0" algn="l">
              <a:spcBef>
                <a:spcPts val="400"/>
              </a:spcBef>
              <a:spcAft>
                <a:spcPts val="0"/>
              </a:spcAft>
              <a:buNone/>
            </a:pPr>
            <a:r>
              <a:t/>
            </a:r>
            <a:endParaRPr sz="2400"/>
          </a:p>
        </p:txBody>
      </p:sp>
      <p:sp>
        <p:nvSpPr>
          <p:cNvPr id="181" name="Google Shape;181;p34"/>
          <p:cNvSpPr txBox="1"/>
          <p:nvPr>
            <p:ph idx="1" type="body"/>
          </p:nvPr>
        </p:nvSpPr>
        <p:spPr>
          <a:xfrm>
            <a:off x="892300" y="1152475"/>
            <a:ext cx="73626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93700" lvl="0" marL="457200" rtl="0" algn="l">
              <a:spcBef>
                <a:spcPts val="0"/>
              </a:spcBef>
              <a:spcAft>
                <a:spcPts val="0"/>
              </a:spcAft>
              <a:buClr>
                <a:schemeClr val="dk1"/>
              </a:buClr>
              <a:buSzPts val="2600"/>
              <a:buChar char="❏"/>
            </a:pPr>
            <a:r>
              <a:rPr b="1" lang="en" sz="2600">
                <a:solidFill>
                  <a:schemeClr val="dk1"/>
                </a:solidFill>
              </a:rPr>
              <a:t>Sustainability:</a:t>
            </a:r>
            <a:r>
              <a:rPr lang="en" sz="2600">
                <a:solidFill>
                  <a:schemeClr val="dk1"/>
                </a:solidFill>
              </a:rPr>
              <a:t> Reduces unnecessary pesticide use through targeted treatment.</a:t>
            </a:r>
            <a:endParaRPr sz="26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Economic:</a:t>
            </a:r>
            <a:r>
              <a:rPr lang="en" sz="2600">
                <a:solidFill>
                  <a:schemeClr val="dk1"/>
                </a:solidFill>
              </a:rPr>
              <a:t> Saves crops and increases farmer income.</a:t>
            </a:r>
            <a:endParaRPr sz="2600">
              <a:solidFill>
                <a:schemeClr val="dk1"/>
              </a:solidFill>
            </a:endParaRPr>
          </a:p>
          <a:p>
            <a:pPr indent="-393700" lvl="0" marL="457200" rtl="0" algn="l">
              <a:spcBef>
                <a:spcPts val="0"/>
              </a:spcBef>
              <a:spcAft>
                <a:spcPts val="0"/>
              </a:spcAft>
              <a:buClr>
                <a:schemeClr val="dk1"/>
              </a:buClr>
              <a:buSzPts val="2600"/>
              <a:buChar char="❏"/>
            </a:pPr>
            <a:r>
              <a:rPr b="1" lang="en" sz="2600">
                <a:solidFill>
                  <a:schemeClr val="dk1"/>
                </a:solidFill>
              </a:rPr>
              <a:t>Data:</a:t>
            </a:r>
            <a:r>
              <a:rPr lang="en" sz="2600">
                <a:solidFill>
                  <a:schemeClr val="dk1"/>
                </a:solidFill>
              </a:rPr>
              <a:t> Provides a heat-map of disease outbreaks for local governments.</a:t>
            </a:r>
            <a:endParaRPr sz="26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400"/>
              </a:spcBef>
              <a:spcAft>
                <a:spcPts val="0"/>
              </a:spcAft>
              <a:buSzPts val="2400"/>
              <a:buChar char="➢"/>
            </a:pPr>
            <a:r>
              <a:rPr b="1" lang="en" sz="2400"/>
              <a:t>Future Roadmap</a:t>
            </a:r>
            <a:endParaRPr sz="2400"/>
          </a:p>
        </p:txBody>
      </p:sp>
      <p:sp>
        <p:nvSpPr>
          <p:cNvPr id="187" name="Google Shape;187;p35"/>
          <p:cNvSpPr txBox="1"/>
          <p:nvPr>
            <p:ph idx="1" type="body"/>
          </p:nvPr>
        </p:nvSpPr>
        <p:spPr>
          <a:xfrm>
            <a:off x="903875" y="1152475"/>
            <a:ext cx="73512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387350" lvl="0" marL="457200" rtl="0" algn="l">
              <a:spcBef>
                <a:spcPts val="0"/>
              </a:spcBef>
              <a:spcAft>
                <a:spcPts val="0"/>
              </a:spcAft>
              <a:buClr>
                <a:schemeClr val="dk1"/>
              </a:buClr>
              <a:buSzPts val="2500"/>
              <a:buChar char="●"/>
            </a:pPr>
            <a:r>
              <a:rPr b="1" lang="en" sz="2500">
                <a:solidFill>
                  <a:schemeClr val="dk1"/>
                </a:solidFill>
              </a:rPr>
              <a:t>Offline Inference:</a:t>
            </a:r>
            <a:r>
              <a:rPr lang="en" sz="2500">
                <a:solidFill>
                  <a:schemeClr val="dk1"/>
                </a:solidFill>
              </a:rPr>
              <a:t> Running lightweight models (TFLite) directly on the phone.</a:t>
            </a:r>
            <a:endParaRPr sz="2500">
              <a:solidFill>
                <a:schemeClr val="dk1"/>
              </a:solidFill>
            </a:endParaRPr>
          </a:p>
          <a:p>
            <a:pPr indent="-387350" lvl="0" marL="457200" rtl="0" algn="l">
              <a:spcBef>
                <a:spcPts val="0"/>
              </a:spcBef>
              <a:spcAft>
                <a:spcPts val="0"/>
              </a:spcAft>
              <a:buClr>
                <a:schemeClr val="dk1"/>
              </a:buClr>
              <a:buSzPts val="2500"/>
              <a:buChar char="●"/>
            </a:pPr>
            <a:r>
              <a:rPr b="1" lang="en" sz="2500">
                <a:solidFill>
                  <a:schemeClr val="dk1"/>
                </a:solidFill>
              </a:rPr>
              <a:t>Multi-leaf Detection:</a:t>
            </a:r>
            <a:r>
              <a:rPr lang="en" sz="2500">
                <a:solidFill>
                  <a:schemeClr val="dk1"/>
                </a:solidFill>
              </a:rPr>
              <a:t> Checking multiple leaves in one frame.</a:t>
            </a:r>
            <a:endParaRPr sz="2500">
              <a:solidFill>
                <a:schemeClr val="dk1"/>
              </a:solidFill>
            </a:endParaRPr>
          </a:p>
          <a:p>
            <a:pPr indent="-387350" lvl="0" marL="457200" rtl="0" algn="l">
              <a:spcBef>
                <a:spcPts val="0"/>
              </a:spcBef>
              <a:spcAft>
                <a:spcPts val="0"/>
              </a:spcAft>
              <a:buClr>
                <a:schemeClr val="dk1"/>
              </a:buClr>
              <a:buSzPts val="2500"/>
              <a:buChar char="●"/>
            </a:pPr>
            <a:r>
              <a:rPr b="1" lang="en" sz="2500">
                <a:solidFill>
                  <a:schemeClr val="dk1"/>
                </a:solidFill>
              </a:rPr>
              <a:t>Voice Support:</a:t>
            </a:r>
            <a:r>
              <a:rPr lang="en" sz="2500">
                <a:solidFill>
                  <a:schemeClr val="dk1"/>
                </a:solidFill>
              </a:rPr>
              <a:t> Adding local language audio instructions for illiterate users.</a:t>
            </a:r>
            <a:endParaRPr sz="2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400"/>
              </a:spcBef>
              <a:spcAft>
                <a:spcPts val="0"/>
              </a:spcAft>
              <a:buSzPts val="2400"/>
              <a:buChar char="➢"/>
            </a:pPr>
            <a:r>
              <a:rPr b="1" lang="en" sz="2400"/>
              <a:t>Conclusion</a:t>
            </a:r>
            <a:endParaRPr b="1" sz="2400"/>
          </a:p>
          <a:p>
            <a:pPr indent="0" lvl="0" marL="0" rtl="0" algn="l">
              <a:spcBef>
                <a:spcPts val="400"/>
              </a:spcBef>
              <a:spcAft>
                <a:spcPts val="0"/>
              </a:spcAft>
              <a:buNone/>
            </a:pPr>
            <a:r>
              <a:t/>
            </a:r>
            <a:endParaRPr/>
          </a:p>
        </p:txBody>
      </p:sp>
      <p:sp>
        <p:nvSpPr>
          <p:cNvPr id="193" name="Google Shape;193;p36"/>
          <p:cNvSpPr txBox="1"/>
          <p:nvPr>
            <p:ph idx="1" type="body"/>
          </p:nvPr>
        </p:nvSpPr>
        <p:spPr>
          <a:xfrm>
            <a:off x="903875" y="1152475"/>
            <a:ext cx="7351200" cy="2585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1200"/>
              </a:spcAft>
              <a:buNone/>
            </a:pPr>
            <a:r>
              <a:rPr b="1" lang="en" sz="2500"/>
              <a:t>Agri-Tech bridges the gap between AI research and practical farming. By combining Flutter’s flexibility with Cloud power, we provide a professional diagnostic tool to anyone with a smartphone.</a:t>
            </a:r>
            <a:endParaRPr sz="2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400"/>
              <a:t>Q&amp;A</a:t>
            </a:r>
            <a:endParaRPr b="1" sz="2400"/>
          </a:p>
          <a:p>
            <a:pPr indent="0" lvl="0" marL="0" rtl="0" algn="l">
              <a:spcBef>
                <a:spcPts val="400"/>
              </a:spcBef>
              <a:spcAft>
                <a:spcPts val="0"/>
              </a:spcAft>
              <a:buNone/>
            </a:pPr>
            <a:r>
              <a:t/>
            </a:r>
            <a:endParaRPr/>
          </a:p>
        </p:txBody>
      </p:sp>
      <p:sp>
        <p:nvSpPr>
          <p:cNvPr id="199" name="Google Shape;199;p37"/>
          <p:cNvSpPr txBox="1"/>
          <p:nvPr>
            <p:ph idx="1" type="body"/>
          </p:nvPr>
        </p:nvSpPr>
        <p:spPr>
          <a:xfrm>
            <a:off x="903875" y="1152475"/>
            <a:ext cx="7351200" cy="3267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b="1" lang="en" sz="2400">
                <a:solidFill>
                  <a:schemeClr val="dk1"/>
                </a:solidFill>
              </a:rPr>
              <a:t>Questions?</a:t>
            </a:r>
            <a:endParaRPr b="1" sz="24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ctr">
              <a:spcBef>
                <a:spcPts val="1200"/>
              </a:spcBef>
              <a:spcAft>
                <a:spcPts val="0"/>
              </a:spcAft>
              <a:buClr>
                <a:schemeClr val="dk1"/>
              </a:buClr>
              <a:buSzPts val="1100"/>
              <a:buFont typeface="Arial"/>
              <a:buNone/>
            </a:pPr>
            <a:r>
              <a:rPr b="1" lang="en" sz="1100">
                <a:solidFill>
                  <a:schemeClr val="dk1"/>
                </a:solidFill>
              </a:rPr>
              <a:t>Thank You!</a:t>
            </a:r>
            <a:endParaRPr sz="1100">
              <a:solidFill>
                <a:schemeClr val="dk1"/>
              </a:solidFill>
            </a:endParaRPr>
          </a:p>
          <a:p>
            <a:pPr indent="0" lvl="0" marL="0" rtl="0" algn="ctr">
              <a:spcBef>
                <a:spcPts val="1200"/>
              </a:spcBef>
              <a:spcAft>
                <a:spcPts val="1200"/>
              </a:spcAft>
              <a:buNone/>
            </a:pPr>
            <a:r>
              <a:rPr b="1" lang="en" sz="1200">
                <a:solidFill>
                  <a:schemeClr val="dk1"/>
                </a:solidFill>
              </a:rPr>
              <a:t>Mohammed.hamid@gmx.com-9898996807</a:t>
            </a:r>
            <a:endParaRPr b="1" sz="1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5" name="Google Shape;20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100">
                <a:solidFill>
                  <a:schemeClr val="dk1"/>
                </a:solidFill>
              </a:rPr>
              <a:t>Here is the detailed flowchart illustrating the complete logical flow of your </a:t>
            </a:r>
            <a:r>
              <a:rPr b="1" lang="en" sz="1100">
                <a:solidFill>
                  <a:schemeClr val="dk1"/>
                </a:solidFill>
              </a:rPr>
              <a:t>Agri-Tech</a:t>
            </a:r>
            <a:r>
              <a:rPr lang="en" sz="1100">
                <a:solidFill>
                  <a:schemeClr val="dk1"/>
                </a:solidFill>
              </a:rPr>
              <a:t> mobile app, from the user's perspective to the cloud backend and back. This design covers all critical steps including image acquisition options, quality checks, API interaction, and handling various result scenarios (healthy leaf, disease found, and errors).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Key Flowchart Breakdown:</a:t>
            </a:r>
            <a:endParaRPr b="1" sz="1100">
              <a:solidFill>
                <a:schemeClr val="dk1"/>
              </a:solidFill>
            </a:endParaRPr>
          </a:p>
          <a:p>
            <a:pPr indent="-293211" lvl="0" marL="457200" rtl="0" algn="l">
              <a:spcBef>
                <a:spcPts val="1200"/>
              </a:spcBef>
              <a:spcAft>
                <a:spcPts val="0"/>
              </a:spcAft>
              <a:buClr>
                <a:schemeClr val="dk1"/>
              </a:buClr>
              <a:buSzPct val="100000"/>
              <a:buAutoNum type="arabicPeriod"/>
            </a:pPr>
            <a:r>
              <a:rPr b="1" lang="en" sz="1100">
                <a:solidFill>
                  <a:schemeClr val="dk1"/>
                </a:solidFill>
              </a:rPr>
              <a:t>Entry Point:</a:t>
            </a:r>
            <a:r>
              <a:rPr lang="en" sz="1100">
                <a:solidFill>
                  <a:schemeClr val="dk1"/>
                </a:solidFill>
              </a:rPr>
              <a:t> The app launches to the Home Screen.</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Input Selection:</a:t>
            </a:r>
            <a:r>
              <a:rPr lang="en" sz="1100">
                <a:solidFill>
                  <a:schemeClr val="dk1"/>
                </a:solidFill>
              </a:rPr>
              <a:t> The user is prompted to choose between taking a new photo with the </a:t>
            </a:r>
            <a:r>
              <a:rPr b="1" lang="en" sz="1100">
                <a:solidFill>
                  <a:schemeClr val="dk1"/>
                </a:solidFill>
              </a:rPr>
              <a:t>Camera</a:t>
            </a:r>
            <a:r>
              <a:rPr lang="en" sz="1100">
                <a:solidFill>
                  <a:schemeClr val="dk1"/>
                </a:solidFill>
              </a:rPr>
              <a:t> or selecting an existing photo from their </a:t>
            </a:r>
            <a:r>
              <a:rPr b="1" lang="en" sz="1100">
                <a:solidFill>
                  <a:schemeClr val="dk1"/>
                </a:solidFill>
              </a:rPr>
              <a:t>Gallery</a:t>
            </a:r>
            <a:r>
              <a:rPr lang="en" sz="1100">
                <a:solidFill>
                  <a:schemeClr val="dk1"/>
                </a:solidFill>
              </a:rPr>
              <a:t>.</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Local Validation:</a:t>
            </a:r>
            <a:r>
              <a:rPr lang="en" sz="1100">
                <a:solidFill>
                  <a:schemeClr val="dk1"/>
                </a:solidFill>
              </a:rPr>
              <a:t> A preliminary check confirms the user is satisfied with the image quality before sending data.</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API Communication:</a:t>
            </a:r>
            <a:r>
              <a:rPr lang="en" sz="1100">
                <a:solidFill>
                  <a:schemeClr val="dk1"/>
                </a:solidFill>
              </a:rPr>
              <a:t> The app uploads the selected image to your cloud API using an </a:t>
            </a:r>
            <a:r>
              <a:rPr b="1" lang="en" sz="1100">
                <a:solidFill>
                  <a:schemeClr val="dk1"/>
                </a:solidFill>
              </a:rPr>
              <a:t>HTTP POST</a:t>
            </a:r>
            <a:r>
              <a:rPr lang="en" sz="1100">
                <a:solidFill>
                  <a:schemeClr val="dk1"/>
                </a:solidFill>
              </a:rPr>
              <a:t> request and displays a loading indicator to the user.</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Cloud Analysis:</a:t>
            </a:r>
            <a:r>
              <a:rPr lang="en" sz="1100">
                <a:solidFill>
                  <a:schemeClr val="dk1"/>
                </a:solidFill>
              </a:rPr>
              <a:t> Your AI module (FastAPI) processes the image, performing inference.</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Response Handling:</a:t>
            </a:r>
            <a:endParaRPr b="1" sz="1100">
              <a:solidFill>
                <a:schemeClr val="dk1"/>
              </a:solidFill>
            </a:endParaRPr>
          </a:p>
          <a:p>
            <a:pPr indent="-293211" lvl="1" marL="914400" rtl="0" algn="l">
              <a:spcBef>
                <a:spcPts val="0"/>
              </a:spcBef>
              <a:spcAft>
                <a:spcPts val="0"/>
              </a:spcAft>
              <a:buClr>
                <a:schemeClr val="dk1"/>
              </a:buClr>
              <a:buSzPct val="100000"/>
              <a:buChar char="○"/>
            </a:pPr>
            <a:r>
              <a:rPr b="1" lang="en" sz="1100">
                <a:solidFill>
                  <a:schemeClr val="dk1"/>
                </a:solidFill>
              </a:rPr>
              <a:t>Error:</a:t>
            </a:r>
            <a:r>
              <a:rPr lang="en" sz="1100">
                <a:solidFill>
                  <a:schemeClr val="dk1"/>
                </a:solidFill>
              </a:rPr>
              <a:t> If connectivity fails, the API is down, or the image cannot be processed, an error message is shown, allowing the user to retry.</a:t>
            </a:r>
            <a:endParaRPr sz="1100">
              <a:solidFill>
                <a:schemeClr val="dk1"/>
              </a:solidFill>
            </a:endParaRPr>
          </a:p>
          <a:p>
            <a:pPr indent="-293211" lvl="1" marL="914400" rtl="0" algn="l">
              <a:spcBef>
                <a:spcPts val="0"/>
              </a:spcBef>
              <a:spcAft>
                <a:spcPts val="0"/>
              </a:spcAft>
              <a:buClr>
                <a:schemeClr val="dk1"/>
              </a:buClr>
              <a:buSzPct val="100000"/>
              <a:buChar char="○"/>
            </a:pPr>
            <a:r>
              <a:rPr b="1" lang="en" sz="1100">
                <a:solidFill>
                  <a:schemeClr val="dk1"/>
                </a:solidFill>
              </a:rPr>
              <a:t>Success (Diagnosis):</a:t>
            </a:r>
            <a:r>
              <a:rPr lang="en" sz="1100">
                <a:solidFill>
                  <a:schemeClr val="dk1"/>
                </a:solidFill>
              </a:rPr>
              <a:t> The JSON response is parsed. The app then branches to display either a "Healthy Leaf" screen or the comprehensive </a:t>
            </a:r>
            <a:r>
              <a:rPr b="1" lang="en" sz="1100">
                <a:solidFill>
                  <a:schemeClr val="dk1"/>
                </a:solidFill>
              </a:rPr>
              <a:t>Diagnosis Screen</a:t>
            </a:r>
            <a:r>
              <a:rPr lang="en" sz="1100">
                <a:solidFill>
                  <a:schemeClr val="dk1"/>
                </a:solidFill>
              </a:rPr>
              <a:t> (Disease Name, Confidence Score, and Remedy Suggestions).</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Termination:</a:t>
            </a:r>
            <a:r>
              <a:rPr lang="en" sz="1100">
                <a:solidFill>
                  <a:schemeClr val="dk1"/>
                </a:solidFill>
              </a:rPr>
              <a:t> The process concludes, and the user is returned to the main dashboard.</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