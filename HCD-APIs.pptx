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70" r:id="rId5"/>
    <p:sldId id="257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42C471-A95C-BC8A-E8B8-881952E92365}" v="540" dt="2026-02-09T18:08:16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E7B14-9B6A-4050-B7E1-8BBE6015A5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2BA79CC-B96E-448C-9233-9976E9371589}">
      <dgm:prSet/>
      <dgm:spPr/>
      <dgm:t>
        <a:bodyPr/>
        <a:lstStyle/>
        <a:p>
          <a:r>
            <a:rPr lang="en-US" b="1"/>
            <a:t>Abstraction of Complexity:</a:t>
          </a:r>
          <a:r>
            <a:rPr lang="en-US"/>
            <a:t> APIs allow developers to use complex cloud services (like Machine Learning or Global Databases) without needing to understand the underlying hardware or low-level code. From an HCD perspective, this simplifies the "mental model" for the engineer.</a:t>
          </a:r>
        </a:p>
      </dgm:t>
    </dgm:pt>
    <dgm:pt modelId="{D687D0FC-95B1-44C7-AF13-ED69F762241E}" type="parTrans" cxnId="{5AC86EB3-4425-4A4A-982B-BDF8C115115E}">
      <dgm:prSet/>
      <dgm:spPr/>
      <dgm:t>
        <a:bodyPr/>
        <a:lstStyle/>
        <a:p>
          <a:endParaRPr lang="en-US"/>
        </a:p>
      </dgm:t>
    </dgm:pt>
    <dgm:pt modelId="{3A370702-6C44-42C8-B715-8FFDD4409C23}" type="sibTrans" cxnId="{5AC86EB3-4425-4A4A-982B-BDF8C115115E}">
      <dgm:prSet/>
      <dgm:spPr/>
      <dgm:t>
        <a:bodyPr/>
        <a:lstStyle/>
        <a:p>
          <a:endParaRPr lang="en-US"/>
        </a:p>
      </dgm:t>
    </dgm:pt>
    <dgm:pt modelId="{BAAAA850-7726-46B9-A2D4-F8D3CEDE1535}">
      <dgm:prSet/>
      <dgm:spPr/>
      <dgm:t>
        <a:bodyPr/>
        <a:lstStyle/>
        <a:p>
          <a:r>
            <a:rPr lang="en-US" b="1"/>
            <a:t>Automation and Orchestration:</a:t>
          </a:r>
          <a:r>
            <a:rPr lang="en-US"/>
            <a:t> APIs enable </a:t>
          </a:r>
          <a:r>
            <a:rPr lang="en-US" b="1"/>
            <a:t>Infrastructure as Code (IaC)</a:t>
          </a:r>
          <a:r>
            <a:rPr lang="en-US"/>
            <a:t>. Instead of a human manually clicking buttons in the AWS Console, scripts use APIs to deploy thousands of servers instantly, ensuring consistency and reducing human error.</a:t>
          </a:r>
        </a:p>
      </dgm:t>
    </dgm:pt>
    <dgm:pt modelId="{CFDDB216-B67E-4DF0-BC02-EBBB4052D811}" type="parTrans" cxnId="{7DAB49AC-5517-46AB-A017-55312B438E63}">
      <dgm:prSet/>
      <dgm:spPr/>
      <dgm:t>
        <a:bodyPr/>
        <a:lstStyle/>
        <a:p>
          <a:endParaRPr lang="en-US"/>
        </a:p>
      </dgm:t>
    </dgm:pt>
    <dgm:pt modelId="{50C9393A-90F5-4B73-83F6-CC350E2E612E}" type="sibTrans" cxnId="{7DAB49AC-5517-46AB-A017-55312B438E63}">
      <dgm:prSet/>
      <dgm:spPr/>
      <dgm:t>
        <a:bodyPr/>
        <a:lstStyle/>
        <a:p>
          <a:endParaRPr lang="en-US"/>
        </a:p>
      </dgm:t>
    </dgm:pt>
    <dgm:pt modelId="{FF3A30FC-FEDC-40AC-9308-8DA944436754}">
      <dgm:prSet/>
      <dgm:spPr/>
      <dgm:t>
        <a:bodyPr/>
        <a:lstStyle/>
        <a:p>
          <a:r>
            <a:rPr lang="en-US" b="1"/>
            <a:t>Seamless Integration:</a:t>
          </a:r>
          <a:r>
            <a:rPr lang="en-US"/>
            <a:t> Cloud computing relies on "Microservices"—small, independent pieces of software that talk to each other. APIs serve as the standardized communication channel that allows an authentication service to talk to a payment service or a storage bucket.</a:t>
          </a:r>
        </a:p>
      </dgm:t>
    </dgm:pt>
    <dgm:pt modelId="{77A87B38-A7B9-43A4-89E4-1F776B2E8890}" type="parTrans" cxnId="{8ECC38E3-45BA-43C0-A3B8-F514D79FEE58}">
      <dgm:prSet/>
      <dgm:spPr/>
      <dgm:t>
        <a:bodyPr/>
        <a:lstStyle/>
        <a:p>
          <a:endParaRPr lang="en-US"/>
        </a:p>
      </dgm:t>
    </dgm:pt>
    <dgm:pt modelId="{F9E5AB4B-5FD9-4AF0-9E1C-37F91BBEF3FB}" type="sibTrans" cxnId="{8ECC38E3-45BA-43C0-A3B8-F514D79FEE58}">
      <dgm:prSet/>
      <dgm:spPr/>
      <dgm:t>
        <a:bodyPr/>
        <a:lstStyle/>
        <a:p>
          <a:endParaRPr lang="en-US"/>
        </a:p>
      </dgm:t>
    </dgm:pt>
    <dgm:pt modelId="{85BF6AA1-07DE-44FE-8FF5-F1F3EB8B0B76}">
      <dgm:prSet/>
      <dgm:spPr/>
      <dgm:t>
        <a:bodyPr/>
        <a:lstStyle/>
        <a:p>
          <a:r>
            <a:rPr lang="en-US" b="1"/>
            <a:t>Scalability on Demand:</a:t>
          </a:r>
          <a:r>
            <a:rPr lang="en-US"/>
            <a:t> APIs facilitate "Elasticity." When a user-facing application experiences a surge in traffic, the system sends an API call to the cloud provider to provision more resources immediately, maintaining a smooth user experience.</a:t>
          </a:r>
        </a:p>
      </dgm:t>
    </dgm:pt>
    <dgm:pt modelId="{390C25B2-CB3E-41F7-962E-2924E5F26611}" type="parTrans" cxnId="{D551B296-7E8E-439F-828E-E668211F669F}">
      <dgm:prSet/>
      <dgm:spPr/>
      <dgm:t>
        <a:bodyPr/>
        <a:lstStyle/>
        <a:p>
          <a:endParaRPr lang="en-US"/>
        </a:p>
      </dgm:t>
    </dgm:pt>
    <dgm:pt modelId="{C5B2F4B1-614A-4662-A33D-FD0DE1679726}" type="sibTrans" cxnId="{D551B296-7E8E-439F-828E-E668211F669F}">
      <dgm:prSet/>
      <dgm:spPr/>
      <dgm:t>
        <a:bodyPr/>
        <a:lstStyle/>
        <a:p>
          <a:endParaRPr lang="en-US"/>
        </a:p>
      </dgm:t>
    </dgm:pt>
    <dgm:pt modelId="{144669AA-CAE6-4CDD-B496-45E9516B40F2}">
      <dgm:prSet/>
      <dgm:spPr/>
      <dgm:t>
        <a:bodyPr/>
        <a:lstStyle/>
        <a:p>
          <a:r>
            <a:rPr lang="en-US" b="1"/>
            <a:t>Security and Access Control:</a:t>
          </a:r>
          <a:r>
            <a:rPr lang="en-US"/>
            <a:t> APIs act as gatekeepers. Every time a request is made to the cloud, the API checks for "keys" or "tokens." This ensures that only authorized users or applications can access sensitive data, which is a fundamental requirement for building trust in digital products.</a:t>
          </a:r>
        </a:p>
      </dgm:t>
    </dgm:pt>
    <dgm:pt modelId="{0E70EFC4-3ACE-4836-A4B6-749ACBE498B4}" type="parTrans" cxnId="{60CBB295-01D0-43A7-BDC2-A98C39E3E0A5}">
      <dgm:prSet/>
      <dgm:spPr/>
      <dgm:t>
        <a:bodyPr/>
        <a:lstStyle/>
        <a:p>
          <a:endParaRPr lang="en-US"/>
        </a:p>
      </dgm:t>
    </dgm:pt>
    <dgm:pt modelId="{8A560E6A-A428-4A40-8215-FDEE666C691A}" type="sibTrans" cxnId="{60CBB295-01D0-43A7-BDC2-A98C39E3E0A5}">
      <dgm:prSet/>
      <dgm:spPr/>
      <dgm:t>
        <a:bodyPr/>
        <a:lstStyle/>
        <a:p>
          <a:endParaRPr lang="en-US"/>
        </a:p>
      </dgm:t>
    </dgm:pt>
    <dgm:pt modelId="{412B97F9-7AF1-4D18-8599-906AB03FD29A}" type="pres">
      <dgm:prSet presAssocID="{28AE7B14-9B6A-4050-B7E1-8BBE6015A515}" presName="root" presStyleCnt="0">
        <dgm:presLayoutVars>
          <dgm:dir/>
          <dgm:resizeHandles val="exact"/>
        </dgm:presLayoutVars>
      </dgm:prSet>
      <dgm:spPr/>
    </dgm:pt>
    <dgm:pt modelId="{7061EAD2-40A1-48D0-96F5-36966DED964A}" type="pres">
      <dgm:prSet presAssocID="{02BA79CC-B96E-448C-9233-9976E9371589}" presName="compNode" presStyleCnt="0"/>
      <dgm:spPr/>
    </dgm:pt>
    <dgm:pt modelId="{120822A8-0CF1-4105-8399-28DB7F2D53A9}" type="pres">
      <dgm:prSet presAssocID="{02BA79CC-B96E-448C-9233-9976E9371589}" presName="bgRect" presStyleLbl="bgShp" presStyleIdx="0" presStyleCnt="5"/>
      <dgm:spPr/>
    </dgm:pt>
    <dgm:pt modelId="{81582BAB-0840-4615-8C46-25738C01F5E3}" type="pres">
      <dgm:prSet presAssocID="{02BA79CC-B96E-448C-9233-9976E937158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BF57863-E08A-48FC-900F-1B40CDF25E51}" type="pres">
      <dgm:prSet presAssocID="{02BA79CC-B96E-448C-9233-9976E9371589}" presName="spaceRect" presStyleCnt="0"/>
      <dgm:spPr/>
    </dgm:pt>
    <dgm:pt modelId="{B5B8C9A1-759B-4584-B547-8E7C105D29AF}" type="pres">
      <dgm:prSet presAssocID="{02BA79CC-B96E-448C-9233-9976E9371589}" presName="parTx" presStyleLbl="revTx" presStyleIdx="0" presStyleCnt="5">
        <dgm:presLayoutVars>
          <dgm:chMax val="0"/>
          <dgm:chPref val="0"/>
        </dgm:presLayoutVars>
      </dgm:prSet>
      <dgm:spPr/>
    </dgm:pt>
    <dgm:pt modelId="{057F5F02-FE8E-4AE2-BE11-757D37B29E3B}" type="pres">
      <dgm:prSet presAssocID="{3A370702-6C44-42C8-B715-8FFDD4409C23}" presName="sibTrans" presStyleCnt="0"/>
      <dgm:spPr/>
    </dgm:pt>
    <dgm:pt modelId="{AAA164B8-CD6D-41BC-91E3-0539B69A2BCE}" type="pres">
      <dgm:prSet presAssocID="{BAAAA850-7726-46B9-A2D4-F8D3CEDE1535}" presName="compNode" presStyleCnt="0"/>
      <dgm:spPr/>
    </dgm:pt>
    <dgm:pt modelId="{EF779F7C-77ED-46E1-96D0-1009281B0A15}" type="pres">
      <dgm:prSet presAssocID="{BAAAA850-7726-46B9-A2D4-F8D3CEDE1535}" presName="bgRect" presStyleLbl="bgShp" presStyleIdx="1" presStyleCnt="5"/>
      <dgm:spPr/>
    </dgm:pt>
    <dgm:pt modelId="{92660EF9-1915-4B18-8F56-30F678E1FB8B}" type="pres">
      <dgm:prSet presAssocID="{BAAAA850-7726-46B9-A2D4-F8D3CEDE153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8170D59-9DDC-4AAD-A77E-230399E094B8}" type="pres">
      <dgm:prSet presAssocID="{BAAAA850-7726-46B9-A2D4-F8D3CEDE1535}" presName="spaceRect" presStyleCnt="0"/>
      <dgm:spPr/>
    </dgm:pt>
    <dgm:pt modelId="{3B88D784-85E1-4B9B-A490-E4C65E4672DF}" type="pres">
      <dgm:prSet presAssocID="{BAAAA850-7726-46B9-A2D4-F8D3CEDE1535}" presName="parTx" presStyleLbl="revTx" presStyleIdx="1" presStyleCnt="5">
        <dgm:presLayoutVars>
          <dgm:chMax val="0"/>
          <dgm:chPref val="0"/>
        </dgm:presLayoutVars>
      </dgm:prSet>
      <dgm:spPr/>
    </dgm:pt>
    <dgm:pt modelId="{424C4627-3C2D-44F0-83EB-5A3B5597B0FF}" type="pres">
      <dgm:prSet presAssocID="{50C9393A-90F5-4B73-83F6-CC350E2E612E}" presName="sibTrans" presStyleCnt="0"/>
      <dgm:spPr/>
    </dgm:pt>
    <dgm:pt modelId="{B2715F33-16CE-4EA6-8D38-93F62B9340A0}" type="pres">
      <dgm:prSet presAssocID="{FF3A30FC-FEDC-40AC-9308-8DA944436754}" presName="compNode" presStyleCnt="0"/>
      <dgm:spPr/>
    </dgm:pt>
    <dgm:pt modelId="{19BF2697-4D5F-4CE1-9C6F-FB60102AA9FC}" type="pres">
      <dgm:prSet presAssocID="{FF3A30FC-FEDC-40AC-9308-8DA944436754}" presName="bgRect" presStyleLbl="bgShp" presStyleIdx="2" presStyleCnt="5"/>
      <dgm:spPr/>
    </dgm:pt>
    <dgm:pt modelId="{A7BB0B69-6C8D-4208-AC57-960C8A32D61C}" type="pres">
      <dgm:prSet presAssocID="{FF3A30FC-FEDC-40AC-9308-8DA94443675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FF9D9FD-3752-42C4-84F4-59C5FB4409A7}" type="pres">
      <dgm:prSet presAssocID="{FF3A30FC-FEDC-40AC-9308-8DA944436754}" presName="spaceRect" presStyleCnt="0"/>
      <dgm:spPr/>
    </dgm:pt>
    <dgm:pt modelId="{2EDAFD91-69B4-4BB0-9135-5FFE7D86A506}" type="pres">
      <dgm:prSet presAssocID="{FF3A30FC-FEDC-40AC-9308-8DA944436754}" presName="parTx" presStyleLbl="revTx" presStyleIdx="2" presStyleCnt="5">
        <dgm:presLayoutVars>
          <dgm:chMax val="0"/>
          <dgm:chPref val="0"/>
        </dgm:presLayoutVars>
      </dgm:prSet>
      <dgm:spPr/>
    </dgm:pt>
    <dgm:pt modelId="{6BFD16AC-BC28-48B4-8BFD-A81A6D0A32E8}" type="pres">
      <dgm:prSet presAssocID="{F9E5AB4B-5FD9-4AF0-9E1C-37F91BBEF3FB}" presName="sibTrans" presStyleCnt="0"/>
      <dgm:spPr/>
    </dgm:pt>
    <dgm:pt modelId="{706C05BD-C737-40B6-A23B-4CCD72136831}" type="pres">
      <dgm:prSet presAssocID="{85BF6AA1-07DE-44FE-8FF5-F1F3EB8B0B76}" presName="compNode" presStyleCnt="0"/>
      <dgm:spPr/>
    </dgm:pt>
    <dgm:pt modelId="{28938797-4A3F-4B14-8417-013F5B32434F}" type="pres">
      <dgm:prSet presAssocID="{85BF6AA1-07DE-44FE-8FF5-F1F3EB8B0B76}" presName="bgRect" presStyleLbl="bgShp" presStyleIdx="3" presStyleCnt="5"/>
      <dgm:spPr/>
    </dgm:pt>
    <dgm:pt modelId="{F8F85413-F662-493F-843F-5950A28F7459}" type="pres">
      <dgm:prSet presAssocID="{85BF6AA1-07DE-44FE-8FF5-F1F3EB8B0B7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0FC59A39-8354-4F9C-A1FF-8F298957C67B}" type="pres">
      <dgm:prSet presAssocID="{85BF6AA1-07DE-44FE-8FF5-F1F3EB8B0B76}" presName="spaceRect" presStyleCnt="0"/>
      <dgm:spPr/>
    </dgm:pt>
    <dgm:pt modelId="{86365BA6-96E3-4FD8-9196-DB048B3F3956}" type="pres">
      <dgm:prSet presAssocID="{85BF6AA1-07DE-44FE-8FF5-F1F3EB8B0B76}" presName="parTx" presStyleLbl="revTx" presStyleIdx="3" presStyleCnt="5">
        <dgm:presLayoutVars>
          <dgm:chMax val="0"/>
          <dgm:chPref val="0"/>
        </dgm:presLayoutVars>
      </dgm:prSet>
      <dgm:spPr/>
    </dgm:pt>
    <dgm:pt modelId="{20A0FEDE-36B4-4670-AA97-24952D78C488}" type="pres">
      <dgm:prSet presAssocID="{C5B2F4B1-614A-4662-A33D-FD0DE1679726}" presName="sibTrans" presStyleCnt="0"/>
      <dgm:spPr/>
    </dgm:pt>
    <dgm:pt modelId="{5348E5F4-9FC2-4FB5-818F-E45CE5D8D476}" type="pres">
      <dgm:prSet presAssocID="{144669AA-CAE6-4CDD-B496-45E9516B40F2}" presName="compNode" presStyleCnt="0"/>
      <dgm:spPr/>
    </dgm:pt>
    <dgm:pt modelId="{DF0E9F64-DD7A-4CC7-A4ED-A03FA6E33E65}" type="pres">
      <dgm:prSet presAssocID="{144669AA-CAE6-4CDD-B496-45E9516B40F2}" presName="bgRect" presStyleLbl="bgShp" presStyleIdx="4" presStyleCnt="5"/>
      <dgm:spPr/>
    </dgm:pt>
    <dgm:pt modelId="{D1EB6BAC-E54C-4B98-BE57-DD4822953BFB}" type="pres">
      <dgm:prSet presAssocID="{144669AA-CAE6-4CDD-B496-45E9516B40F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1F28E17-D1B5-4DDE-9769-9E42800B45BE}" type="pres">
      <dgm:prSet presAssocID="{144669AA-CAE6-4CDD-B496-45E9516B40F2}" presName="spaceRect" presStyleCnt="0"/>
      <dgm:spPr/>
    </dgm:pt>
    <dgm:pt modelId="{FB462E65-C214-4A55-B72D-65A13D3BB467}" type="pres">
      <dgm:prSet presAssocID="{144669AA-CAE6-4CDD-B496-45E9516B40F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FAEA319-F1DD-4EC6-B0C0-487E0333B9BE}" type="presOf" srcId="{28AE7B14-9B6A-4050-B7E1-8BBE6015A515}" destId="{412B97F9-7AF1-4D18-8599-906AB03FD29A}" srcOrd="0" destOrd="0" presId="urn:microsoft.com/office/officeart/2018/2/layout/IconVerticalSolidList"/>
    <dgm:cxn modelId="{27C5672D-1E9B-4608-87AA-BDFA022198FF}" type="presOf" srcId="{144669AA-CAE6-4CDD-B496-45E9516B40F2}" destId="{FB462E65-C214-4A55-B72D-65A13D3BB467}" srcOrd="0" destOrd="0" presId="urn:microsoft.com/office/officeart/2018/2/layout/IconVerticalSolidList"/>
    <dgm:cxn modelId="{D48D2F7C-1FAC-401E-BF88-748C7FA23ECF}" type="presOf" srcId="{FF3A30FC-FEDC-40AC-9308-8DA944436754}" destId="{2EDAFD91-69B4-4BB0-9135-5FFE7D86A506}" srcOrd="0" destOrd="0" presId="urn:microsoft.com/office/officeart/2018/2/layout/IconVerticalSolidList"/>
    <dgm:cxn modelId="{60CBB295-01D0-43A7-BDC2-A98C39E3E0A5}" srcId="{28AE7B14-9B6A-4050-B7E1-8BBE6015A515}" destId="{144669AA-CAE6-4CDD-B496-45E9516B40F2}" srcOrd="4" destOrd="0" parTransId="{0E70EFC4-3ACE-4836-A4B6-749ACBE498B4}" sibTransId="{8A560E6A-A428-4A40-8215-FDEE666C691A}"/>
    <dgm:cxn modelId="{D551B296-7E8E-439F-828E-E668211F669F}" srcId="{28AE7B14-9B6A-4050-B7E1-8BBE6015A515}" destId="{85BF6AA1-07DE-44FE-8FF5-F1F3EB8B0B76}" srcOrd="3" destOrd="0" parTransId="{390C25B2-CB3E-41F7-962E-2924E5F26611}" sibTransId="{C5B2F4B1-614A-4662-A33D-FD0DE1679726}"/>
    <dgm:cxn modelId="{C7114198-C71B-4EE8-B800-C5336B9AC7C4}" type="presOf" srcId="{BAAAA850-7726-46B9-A2D4-F8D3CEDE1535}" destId="{3B88D784-85E1-4B9B-A490-E4C65E4672DF}" srcOrd="0" destOrd="0" presId="urn:microsoft.com/office/officeart/2018/2/layout/IconVerticalSolidList"/>
    <dgm:cxn modelId="{68EB45A0-CCBF-4C60-B901-0AE402B4AC95}" type="presOf" srcId="{85BF6AA1-07DE-44FE-8FF5-F1F3EB8B0B76}" destId="{86365BA6-96E3-4FD8-9196-DB048B3F3956}" srcOrd="0" destOrd="0" presId="urn:microsoft.com/office/officeart/2018/2/layout/IconVerticalSolidList"/>
    <dgm:cxn modelId="{7DAB49AC-5517-46AB-A017-55312B438E63}" srcId="{28AE7B14-9B6A-4050-B7E1-8BBE6015A515}" destId="{BAAAA850-7726-46B9-A2D4-F8D3CEDE1535}" srcOrd="1" destOrd="0" parTransId="{CFDDB216-B67E-4DF0-BC02-EBBB4052D811}" sibTransId="{50C9393A-90F5-4B73-83F6-CC350E2E612E}"/>
    <dgm:cxn modelId="{5AC86EB3-4425-4A4A-982B-BDF8C115115E}" srcId="{28AE7B14-9B6A-4050-B7E1-8BBE6015A515}" destId="{02BA79CC-B96E-448C-9233-9976E9371589}" srcOrd="0" destOrd="0" parTransId="{D687D0FC-95B1-44C7-AF13-ED69F762241E}" sibTransId="{3A370702-6C44-42C8-B715-8FFDD4409C23}"/>
    <dgm:cxn modelId="{1F37C5BA-2735-4F5A-BBE6-2C2F1275D74B}" type="presOf" srcId="{02BA79CC-B96E-448C-9233-9976E9371589}" destId="{B5B8C9A1-759B-4584-B547-8E7C105D29AF}" srcOrd="0" destOrd="0" presId="urn:microsoft.com/office/officeart/2018/2/layout/IconVerticalSolidList"/>
    <dgm:cxn modelId="{8ECC38E3-45BA-43C0-A3B8-F514D79FEE58}" srcId="{28AE7B14-9B6A-4050-B7E1-8BBE6015A515}" destId="{FF3A30FC-FEDC-40AC-9308-8DA944436754}" srcOrd="2" destOrd="0" parTransId="{77A87B38-A7B9-43A4-89E4-1F776B2E8890}" sibTransId="{F9E5AB4B-5FD9-4AF0-9E1C-37F91BBEF3FB}"/>
    <dgm:cxn modelId="{427849D1-7314-465A-9403-C974EEDC0B1A}" type="presParOf" srcId="{412B97F9-7AF1-4D18-8599-906AB03FD29A}" destId="{7061EAD2-40A1-48D0-96F5-36966DED964A}" srcOrd="0" destOrd="0" presId="urn:microsoft.com/office/officeart/2018/2/layout/IconVerticalSolidList"/>
    <dgm:cxn modelId="{B19295AA-4FF1-4203-A271-5A80DB062E11}" type="presParOf" srcId="{7061EAD2-40A1-48D0-96F5-36966DED964A}" destId="{120822A8-0CF1-4105-8399-28DB7F2D53A9}" srcOrd="0" destOrd="0" presId="urn:microsoft.com/office/officeart/2018/2/layout/IconVerticalSolidList"/>
    <dgm:cxn modelId="{5FA3424D-FF48-491B-88AD-DA36D8253229}" type="presParOf" srcId="{7061EAD2-40A1-48D0-96F5-36966DED964A}" destId="{81582BAB-0840-4615-8C46-25738C01F5E3}" srcOrd="1" destOrd="0" presId="urn:microsoft.com/office/officeart/2018/2/layout/IconVerticalSolidList"/>
    <dgm:cxn modelId="{2F130F5C-D3DA-41E5-BE8D-169E75DDE7CE}" type="presParOf" srcId="{7061EAD2-40A1-48D0-96F5-36966DED964A}" destId="{7BF57863-E08A-48FC-900F-1B40CDF25E51}" srcOrd="2" destOrd="0" presId="urn:microsoft.com/office/officeart/2018/2/layout/IconVerticalSolidList"/>
    <dgm:cxn modelId="{CF41C82E-0093-4C85-962B-046D7FEA7623}" type="presParOf" srcId="{7061EAD2-40A1-48D0-96F5-36966DED964A}" destId="{B5B8C9A1-759B-4584-B547-8E7C105D29AF}" srcOrd="3" destOrd="0" presId="urn:microsoft.com/office/officeart/2018/2/layout/IconVerticalSolidList"/>
    <dgm:cxn modelId="{E7A54BA8-1775-46CF-903C-2F359DAC9DFE}" type="presParOf" srcId="{412B97F9-7AF1-4D18-8599-906AB03FD29A}" destId="{057F5F02-FE8E-4AE2-BE11-757D37B29E3B}" srcOrd="1" destOrd="0" presId="urn:microsoft.com/office/officeart/2018/2/layout/IconVerticalSolidList"/>
    <dgm:cxn modelId="{1FEEE878-CE28-4D02-94F0-AEB5931590BB}" type="presParOf" srcId="{412B97F9-7AF1-4D18-8599-906AB03FD29A}" destId="{AAA164B8-CD6D-41BC-91E3-0539B69A2BCE}" srcOrd="2" destOrd="0" presId="urn:microsoft.com/office/officeart/2018/2/layout/IconVerticalSolidList"/>
    <dgm:cxn modelId="{CD0176A3-7143-4C72-A15C-B8386EE69D54}" type="presParOf" srcId="{AAA164B8-CD6D-41BC-91E3-0539B69A2BCE}" destId="{EF779F7C-77ED-46E1-96D0-1009281B0A15}" srcOrd="0" destOrd="0" presId="urn:microsoft.com/office/officeart/2018/2/layout/IconVerticalSolidList"/>
    <dgm:cxn modelId="{CC1D5EE2-63FE-4049-85F8-3AB6DC812A9D}" type="presParOf" srcId="{AAA164B8-CD6D-41BC-91E3-0539B69A2BCE}" destId="{92660EF9-1915-4B18-8F56-30F678E1FB8B}" srcOrd="1" destOrd="0" presId="urn:microsoft.com/office/officeart/2018/2/layout/IconVerticalSolidList"/>
    <dgm:cxn modelId="{96D16C91-98F6-4819-BF7F-BF7B309F3FBF}" type="presParOf" srcId="{AAA164B8-CD6D-41BC-91E3-0539B69A2BCE}" destId="{C8170D59-9DDC-4AAD-A77E-230399E094B8}" srcOrd="2" destOrd="0" presId="urn:microsoft.com/office/officeart/2018/2/layout/IconVerticalSolidList"/>
    <dgm:cxn modelId="{1734CE75-82AC-4A9F-A6BE-519F176EC71D}" type="presParOf" srcId="{AAA164B8-CD6D-41BC-91E3-0539B69A2BCE}" destId="{3B88D784-85E1-4B9B-A490-E4C65E4672DF}" srcOrd="3" destOrd="0" presId="urn:microsoft.com/office/officeart/2018/2/layout/IconVerticalSolidList"/>
    <dgm:cxn modelId="{39E69D62-3CA5-4B58-B9CF-1A853978A2A5}" type="presParOf" srcId="{412B97F9-7AF1-4D18-8599-906AB03FD29A}" destId="{424C4627-3C2D-44F0-83EB-5A3B5597B0FF}" srcOrd="3" destOrd="0" presId="urn:microsoft.com/office/officeart/2018/2/layout/IconVerticalSolidList"/>
    <dgm:cxn modelId="{03D56818-6B57-4DE1-A47C-DA066F9D9817}" type="presParOf" srcId="{412B97F9-7AF1-4D18-8599-906AB03FD29A}" destId="{B2715F33-16CE-4EA6-8D38-93F62B9340A0}" srcOrd="4" destOrd="0" presId="urn:microsoft.com/office/officeart/2018/2/layout/IconVerticalSolidList"/>
    <dgm:cxn modelId="{75186EEB-34BC-48AE-B1A5-C15F513FBE3F}" type="presParOf" srcId="{B2715F33-16CE-4EA6-8D38-93F62B9340A0}" destId="{19BF2697-4D5F-4CE1-9C6F-FB60102AA9FC}" srcOrd="0" destOrd="0" presId="urn:microsoft.com/office/officeart/2018/2/layout/IconVerticalSolidList"/>
    <dgm:cxn modelId="{63E069E4-534A-47E2-9E3E-0C8A9BB16FC8}" type="presParOf" srcId="{B2715F33-16CE-4EA6-8D38-93F62B9340A0}" destId="{A7BB0B69-6C8D-4208-AC57-960C8A32D61C}" srcOrd="1" destOrd="0" presId="urn:microsoft.com/office/officeart/2018/2/layout/IconVerticalSolidList"/>
    <dgm:cxn modelId="{FD3CC32F-71E2-4F8C-B00F-4B2836B7CA24}" type="presParOf" srcId="{B2715F33-16CE-4EA6-8D38-93F62B9340A0}" destId="{3FF9D9FD-3752-42C4-84F4-59C5FB4409A7}" srcOrd="2" destOrd="0" presId="urn:microsoft.com/office/officeart/2018/2/layout/IconVerticalSolidList"/>
    <dgm:cxn modelId="{DF53A5A0-C9BF-451A-BC26-FCB0E77989C9}" type="presParOf" srcId="{B2715F33-16CE-4EA6-8D38-93F62B9340A0}" destId="{2EDAFD91-69B4-4BB0-9135-5FFE7D86A506}" srcOrd="3" destOrd="0" presId="urn:microsoft.com/office/officeart/2018/2/layout/IconVerticalSolidList"/>
    <dgm:cxn modelId="{1B4F820F-1358-46DF-8987-1825FCD93D31}" type="presParOf" srcId="{412B97F9-7AF1-4D18-8599-906AB03FD29A}" destId="{6BFD16AC-BC28-48B4-8BFD-A81A6D0A32E8}" srcOrd="5" destOrd="0" presId="urn:microsoft.com/office/officeart/2018/2/layout/IconVerticalSolidList"/>
    <dgm:cxn modelId="{37547858-FA01-4DDA-A5DA-D97563F13620}" type="presParOf" srcId="{412B97F9-7AF1-4D18-8599-906AB03FD29A}" destId="{706C05BD-C737-40B6-A23B-4CCD72136831}" srcOrd="6" destOrd="0" presId="urn:microsoft.com/office/officeart/2018/2/layout/IconVerticalSolidList"/>
    <dgm:cxn modelId="{A5CF46B3-9FAA-443E-8D57-3EAA5665AE1A}" type="presParOf" srcId="{706C05BD-C737-40B6-A23B-4CCD72136831}" destId="{28938797-4A3F-4B14-8417-013F5B32434F}" srcOrd="0" destOrd="0" presId="urn:microsoft.com/office/officeart/2018/2/layout/IconVerticalSolidList"/>
    <dgm:cxn modelId="{50DCA3AB-808A-46F5-8B64-355BDE4DA3CC}" type="presParOf" srcId="{706C05BD-C737-40B6-A23B-4CCD72136831}" destId="{F8F85413-F662-493F-843F-5950A28F7459}" srcOrd="1" destOrd="0" presId="urn:microsoft.com/office/officeart/2018/2/layout/IconVerticalSolidList"/>
    <dgm:cxn modelId="{F97E66A1-41E9-48A7-AF65-670EB1595BC5}" type="presParOf" srcId="{706C05BD-C737-40B6-A23B-4CCD72136831}" destId="{0FC59A39-8354-4F9C-A1FF-8F298957C67B}" srcOrd="2" destOrd="0" presId="urn:microsoft.com/office/officeart/2018/2/layout/IconVerticalSolidList"/>
    <dgm:cxn modelId="{C5EDF52D-2B20-4EE7-880B-2862ED7F31F2}" type="presParOf" srcId="{706C05BD-C737-40B6-A23B-4CCD72136831}" destId="{86365BA6-96E3-4FD8-9196-DB048B3F3956}" srcOrd="3" destOrd="0" presId="urn:microsoft.com/office/officeart/2018/2/layout/IconVerticalSolidList"/>
    <dgm:cxn modelId="{9845A575-1B56-4D43-B313-452019982333}" type="presParOf" srcId="{412B97F9-7AF1-4D18-8599-906AB03FD29A}" destId="{20A0FEDE-36B4-4670-AA97-24952D78C488}" srcOrd="7" destOrd="0" presId="urn:microsoft.com/office/officeart/2018/2/layout/IconVerticalSolidList"/>
    <dgm:cxn modelId="{5B0E4406-8AB2-4082-8A86-CDB17260BD32}" type="presParOf" srcId="{412B97F9-7AF1-4D18-8599-906AB03FD29A}" destId="{5348E5F4-9FC2-4FB5-818F-E45CE5D8D476}" srcOrd="8" destOrd="0" presId="urn:microsoft.com/office/officeart/2018/2/layout/IconVerticalSolidList"/>
    <dgm:cxn modelId="{93A95D1F-FB36-4EF7-A6F0-B7F298F9A0B0}" type="presParOf" srcId="{5348E5F4-9FC2-4FB5-818F-E45CE5D8D476}" destId="{DF0E9F64-DD7A-4CC7-A4ED-A03FA6E33E65}" srcOrd="0" destOrd="0" presId="urn:microsoft.com/office/officeart/2018/2/layout/IconVerticalSolidList"/>
    <dgm:cxn modelId="{1B1E8061-5EA6-4638-99D9-315F3DD5A065}" type="presParOf" srcId="{5348E5F4-9FC2-4FB5-818F-E45CE5D8D476}" destId="{D1EB6BAC-E54C-4B98-BE57-DD4822953BFB}" srcOrd="1" destOrd="0" presId="urn:microsoft.com/office/officeart/2018/2/layout/IconVerticalSolidList"/>
    <dgm:cxn modelId="{027F0BD3-7DC5-491B-885E-B9CA406B546C}" type="presParOf" srcId="{5348E5F4-9FC2-4FB5-818F-E45CE5D8D476}" destId="{B1F28E17-D1B5-4DDE-9769-9E42800B45BE}" srcOrd="2" destOrd="0" presId="urn:microsoft.com/office/officeart/2018/2/layout/IconVerticalSolidList"/>
    <dgm:cxn modelId="{4A488A20-3224-4215-BF58-16998B5CEB80}" type="presParOf" srcId="{5348E5F4-9FC2-4FB5-818F-E45CE5D8D476}" destId="{FB462E65-C214-4A55-B72D-65A13D3BB4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757BE2-94E3-4CA4-BD88-D9F9805A1E70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14D324-1844-48FC-A5D6-4B8ECA18F6E5}">
      <dgm:prSet/>
      <dgm:spPr/>
      <dgm:t>
        <a:bodyPr/>
        <a:lstStyle/>
        <a:p>
          <a:r>
            <a:rPr lang="en-US" b="1"/>
            <a:t>Definition:</a:t>
          </a:r>
          <a:r>
            <a:rPr lang="en-US"/>
            <a:t> An API that allows you to model and set up your entire AWS infrastructure using a simple text file.</a:t>
          </a:r>
        </a:p>
      </dgm:t>
    </dgm:pt>
    <dgm:pt modelId="{941F2032-7500-494E-AAC8-AACBEB7E9F8F}" type="parTrans" cxnId="{B570CAF5-894D-4BF1-8CCE-3F89B92956DA}">
      <dgm:prSet/>
      <dgm:spPr/>
      <dgm:t>
        <a:bodyPr/>
        <a:lstStyle/>
        <a:p>
          <a:endParaRPr lang="en-US"/>
        </a:p>
      </dgm:t>
    </dgm:pt>
    <dgm:pt modelId="{DDB98E0B-F4DF-4FF0-BBC3-E82BBF5CC696}" type="sibTrans" cxnId="{B570CAF5-894D-4BF1-8CCE-3F89B92956DA}">
      <dgm:prSet/>
      <dgm:spPr/>
      <dgm:t>
        <a:bodyPr/>
        <a:lstStyle/>
        <a:p>
          <a:endParaRPr lang="en-US"/>
        </a:p>
      </dgm:t>
    </dgm:pt>
    <dgm:pt modelId="{20D482E4-0570-416A-809A-070CDC94A266}">
      <dgm:prSet/>
      <dgm:spPr/>
      <dgm:t>
        <a:bodyPr/>
        <a:lstStyle/>
        <a:p>
          <a:r>
            <a:rPr lang="en-US" b="1"/>
            <a:t>Key Features:</a:t>
          </a:r>
          <a:endParaRPr lang="en-US"/>
        </a:p>
      </dgm:t>
    </dgm:pt>
    <dgm:pt modelId="{06EFB533-9DFE-42B5-826B-ABD6AC64DFA1}" type="parTrans" cxnId="{5E782EF8-C3DC-4A87-A6AD-B213FA9022F3}">
      <dgm:prSet/>
      <dgm:spPr/>
      <dgm:t>
        <a:bodyPr/>
        <a:lstStyle/>
        <a:p>
          <a:endParaRPr lang="en-US"/>
        </a:p>
      </dgm:t>
    </dgm:pt>
    <dgm:pt modelId="{E5EDD0C8-658A-4CBB-97FC-38F5802DF22B}" type="sibTrans" cxnId="{5E782EF8-C3DC-4A87-A6AD-B213FA9022F3}">
      <dgm:prSet/>
      <dgm:spPr/>
      <dgm:t>
        <a:bodyPr/>
        <a:lstStyle/>
        <a:p>
          <a:endParaRPr lang="en-US"/>
        </a:p>
      </dgm:t>
    </dgm:pt>
    <dgm:pt modelId="{36345FE2-4145-4858-882F-A0DC3F859845}">
      <dgm:prSet/>
      <dgm:spPr/>
      <dgm:t>
        <a:bodyPr/>
        <a:lstStyle/>
        <a:p>
          <a:r>
            <a:rPr lang="en-US" b="1"/>
            <a:t>Consistency:</a:t>
          </a:r>
          <a:r>
            <a:rPr lang="en-US"/>
            <a:t> Deploy the exact same environment for testing and production.</a:t>
          </a:r>
        </a:p>
      </dgm:t>
    </dgm:pt>
    <dgm:pt modelId="{B2126982-0D9C-4153-81EB-564A1ABE54B6}" type="parTrans" cxnId="{5B779364-3423-4273-9F8C-1563887E136C}">
      <dgm:prSet/>
      <dgm:spPr/>
      <dgm:t>
        <a:bodyPr/>
        <a:lstStyle/>
        <a:p>
          <a:endParaRPr lang="en-US"/>
        </a:p>
      </dgm:t>
    </dgm:pt>
    <dgm:pt modelId="{4BFE67DA-1873-4E60-93D7-AFEEE194EB6A}" type="sibTrans" cxnId="{5B779364-3423-4273-9F8C-1563887E136C}">
      <dgm:prSet/>
      <dgm:spPr/>
      <dgm:t>
        <a:bodyPr/>
        <a:lstStyle/>
        <a:p>
          <a:endParaRPr lang="en-US"/>
        </a:p>
      </dgm:t>
    </dgm:pt>
    <dgm:pt modelId="{D123FBF8-9A9F-49D2-B518-C478A16677D4}">
      <dgm:prSet/>
      <dgm:spPr/>
      <dgm:t>
        <a:bodyPr/>
        <a:lstStyle/>
        <a:p>
          <a:r>
            <a:rPr lang="en-US" b="1"/>
            <a:t>Version Control:</a:t>
          </a:r>
          <a:r>
            <a:rPr lang="en-US"/>
            <a:t> Track changes to your infrastructure like you track code.</a:t>
          </a:r>
        </a:p>
      </dgm:t>
    </dgm:pt>
    <dgm:pt modelId="{BAAB682B-50B8-47CE-88AE-4EF9F7B56B0A}" type="parTrans" cxnId="{51183600-DDDD-4273-B8C3-79F29ACBAAF3}">
      <dgm:prSet/>
      <dgm:spPr/>
      <dgm:t>
        <a:bodyPr/>
        <a:lstStyle/>
        <a:p>
          <a:endParaRPr lang="en-US"/>
        </a:p>
      </dgm:t>
    </dgm:pt>
    <dgm:pt modelId="{AFA87DA7-143B-4C0D-B873-67D897B4FE35}" type="sibTrans" cxnId="{51183600-DDDD-4273-B8C3-79F29ACBAAF3}">
      <dgm:prSet/>
      <dgm:spPr/>
      <dgm:t>
        <a:bodyPr/>
        <a:lstStyle/>
        <a:p>
          <a:endParaRPr lang="en-US"/>
        </a:p>
      </dgm:t>
    </dgm:pt>
    <dgm:pt modelId="{24AB5EF3-8487-4AF5-983F-A34A1BCB7411}">
      <dgm:prSet/>
      <dgm:spPr/>
      <dgm:t>
        <a:bodyPr/>
        <a:lstStyle/>
        <a:p>
          <a:r>
            <a:rPr lang="en-US" b="1"/>
            <a:t>Rollbacks:</a:t>
          </a:r>
          <a:r>
            <a:rPr lang="en-US"/>
            <a:t> If a new update breaks the user experience, you can revert to the previous state instantly.</a:t>
          </a:r>
        </a:p>
      </dgm:t>
    </dgm:pt>
    <dgm:pt modelId="{C14E2A8B-284E-43C5-B4FE-A20F23B1DF6D}" type="parTrans" cxnId="{75B99884-EACA-4A34-911A-A1837CDA1942}">
      <dgm:prSet/>
      <dgm:spPr/>
      <dgm:t>
        <a:bodyPr/>
        <a:lstStyle/>
        <a:p>
          <a:endParaRPr lang="en-US"/>
        </a:p>
      </dgm:t>
    </dgm:pt>
    <dgm:pt modelId="{E7C0F65A-C040-4DC2-85EA-D1610D5633ED}" type="sibTrans" cxnId="{75B99884-EACA-4A34-911A-A1837CDA1942}">
      <dgm:prSet/>
      <dgm:spPr/>
      <dgm:t>
        <a:bodyPr/>
        <a:lstStyle/>
        <a:p>
          <a:endParaRPr lang="en-US"/>
        </a:p>
      </dgm:t>
    </dgm:pt>
    <dgm:pt modelId="{58B9375C-F118-48CB-BF22-721E64E2C5CC}" type="pres">
      <dgm:prSet presAssocID="{2E757BE2-94E3-4CA4-BD88-D9F9805A1E70}" presName="Name0" presStyleCnt="0">
        <dgm:presLayoutVars>
          <dgm:dir/>
          <dgm:resizeHandles val="exact"/>
        </dgm:presLayoutVars>
      </dgm:prSet>
      <dgm:spPr/>
    </dgm:pt>
    <dgm:pt modelId="{82755B5E-378B-4195-9612-5A63C7DFE36C}" type="pres">
      <dgm:prSet presAssocID="{7514D324-1844-48FC-A5D6-4B8ECA18F6E5}" presName="node" presStyleLbl="node1" presStyleIdx="0" presStyleCnt="5">
        <dgm:presLayoutVars>
          <dgm:bulletEnabled val="1"/>
        </dgm:presLayoutVars>
      </dgm:prSet>
      <dgm:spPr/>
    </dgm:pt>
    <dgm:pt modelId="{E805222A-9B96-4B30-AC8F-108F609F204D}" type="pres">
      <dgm:prSet presAssocID="{DDB98E0B-F4DF-4FF0-BBC3-E82BBF5CC696}" presName="sibTrans" presStyleLbl="sibTrans1D1" presStyleIdx="0" presStyleCnt="4"/>
      <dgm:spPr/>
    </dgm:pt>
    <dgm:pt modelId="{5F1AA504-5027-43D2-A769-5E26358420D0}" type="pres">
      <dgm:prSet presAssocID="{DDB98E0B-F4DF-4FF0-BBC3-E82BBF5CC696}" presName="connectorText" presStyleLbl="sibTrans1D1" presStyleIdx="0" presStyleCnt="4"/>
      <dgm:spPr/>
    </dgm:pt>
    <dgm:pt modelId="{A34A3A31-E47C-428A-895B-7C32A0802B4A}" type="pres">
      <dgm:prSet presAssocID="{20D482E4-0570-416A-809A-070CDC94A266}" presName="node" presStyleLbl="node1" presStyleIdx="1" presStyleCnt="5">
        <dgm:presLayoutVars>
          <dgm:bulletEnabled val="1"/>
        </dgm:presLayoutVars>
      </dgm:prSet>
      <dgm:spPr/>
    </dgm:pt>
    <dgm:pt modelId="{C03BAB03-D919-4874-B6ED-2ADDBA16B4FE}" type="pres">
      <dgm:prSet presAssocID="{E5EDD0C8-658A-4CBB-97FC-38F5802DF22B}" presName="sibTrans" presStyleLbl="sibTrans1D1" presStyleIdx="1" presStyleCnt="4"/>
      <dgm:spPr/>
    </dgm:pt>
    <dgm:pt modelId="{616CC5E8-82BE-44BA-ADAE-BD398A594C8F}" type="pres">
      <dgm:prSet presAssocID="{E5EDD0C8-658A-4CBB-97FC-38F5802DF22B}" presName="connectorText" presStyleLbl="sibTrans1D1" presStyleIdx="1" presStyleCnt="4"/>
      <dgm:spPr/>
    </dgm:pt>
    <dgm:pt modelId="{FD35C250-0929-4900-A307-BA258BC1EBA9}" type="pres">
      <dgm:prSet presAssocID="{36345FE2-4145-4858-882F-A0DC3F859845}" presName="node" presStyleLbl="node1" presStyleIdx="2" presStyleCnt="5">
        <dgm:presLayoutVars>
          <dgm:bulletEnabled val="1"/>
        </dgm:presLayoutVars>
      </dgm:prSet>
      <dgm:spPr/>
    </dgm:pt>
    <dgm:pt modelId="{467EEC44-CCA3-4C81-9434-D61BA2110ACD}" type="pres">
      <dgm:prSet presAssocID="{4BFE67DA-1873-4E60-93D7-AFEEE194EB6A}" presName="sibTrans" presStyleLbl="sibTrans1D1" presStyleIdx="2" presStyleCnt="4"/>
      <dgm:spPr/>
    </dgm:pt>
    <dgm:pt modelId="{40205888-915A-4B6F-B579-075FD14B2FB7}" type="pres">
      <dgm:prSet presAssocID="{4BFE67DA-1873-4E60-93D7-AFEEE194EB6A}" presName="connectorText" presStyleLbl="sibTrans1D1" presStyleIdx="2" presStyleCnt="4"/>
      <dgm:spPr/>
    </dgm:pt>
    <dgm:pt modelId="{4AE883BA-F69E-4DE9-BC70-322EE1AAB63E}" type="pres">
      <dgm:prSet presAssocID="{D123FBF8-9A9F-49D2-B518-C478A16677D4}" presName="node" presStyleLbl="node1" presStyleIdx="3" presStyleCnt="5">
        <dgm:presLayoutVars>
          <dgm:bulletEnabled val="1"/>
        </dgm:presLayoutVars>
      </dgm:prSet>
      <dgm:spPr/>
    </dgm:pt>
    <dgm:pt modelId="{4C2CC117-BE9D-4B5C-AB1E-EFFF91E3F03A}" type="pres">
      <dgm:prSet presAssocID="{AFA87DA7-143B-4C0D-B873-67D897B4FE35}" presName="sibTrans" presStyleLbl="sibTrans1D1" presStyleIdx="3" presStyleCnt="4"/>
      <dgm:spPr/>
    </dgm:pt>
    <dgm:pt modelId="{8258CFB4-4444-4389-BABD-5E614D4066E8}" type="pres">
      <dgm:prSet presAssocID="{AFA87DA7-143B-4C0D-B873-67D897B4FE35}" presName="connectorText" presStyleLbl="sibTrans1D1" presStyleIdx="3" presStyleCnt="4"/>
      <dgm:spPr/>
    </dgm:pt>
    <dgm:pt modelId="{DCA12709-8A7F-4DEB-AF9A-8ECD88698322}" type="pres">
      <dgm:prSet presAssocID="{24AB5EF3-8487-4AF5-983F-A34A1BCB7411}" presName="node" presStyleLbl="node1" presStyleIdx="4" presStyleCnt="5">
        <dgm:presLayoutVars>
          <dgm:bulletEnabled val="1"/>
        </dgm:presLayoutVars>
      </dgm:prSet>
      <dgm:spPr/>
    </dgm:pt>
  </dgm:ptLst>
  <dgm:cxnLst>
    <dgm:cxn modelId="{51183600-DDDD-4273-B8C3-79F29ACBAAF3}" srcId="{2E757BE2-94E3-4CA4-BD88-D9F9805A1E70}" destId="{D123FBF8-9A9F-49D2-B518-C478A16677D4}" srcOrd="3" destOrd="0" parTransId="{BAAB682B-50B8-47CE-88AE-4EF9F7B56B0A}" sibTransId="{AFA87DA7-143B-4C0D-B873-67D897B4FE35}"/>
    <dgm:cxn modelId="{2DEE5A0D-7FA8-4630-B920-060799BC1472}" type="presOf" srcId="{AFA87DA7-143B-4C0D-B873-67D897B4FE35}" destId="{8258CFB4-4444-4389-BABD-5E614D4066E8}" srcOrd="1" destOrd="0" presId="urn:microsoft.com/office/officeart/2016/7/layout/RepeatingBendingProcessNew"/>
    <dgm:cxn modelId="{303E0430-9689-4422-8267-C38A9895D82E}" type="presOf" srcId="{36345FE2-4145-4858-882F-A0DC3F859845}" destId="{FD35C250-0929-4900-A307-BA258BC1EBA9}" srcOrd="0" destOrd="0" presId="urn:microsoft.com/office/officeart/2016/7/layout/RepeatingBendingProcessNew"/>
    <dgm:cxn modelId="{692C5337-CD0F-4273-B521-5B611FCA3ED0}" type="presOf" srcId="{DDB98E0B-F4DF-4FF0-BBC3-E82BBF5CC696}" destId="{E805222A-9B96-4B30-AC8F-108F609F204D}" srcOrd="0" destOrd="0" presId="urn:microsoft.com/office/officeart/2016/7/layout/RepeatingBendingProcessNew"/>
    <dgm:cxn modelId="{8F8CD238-B6DE-41D3-ACF6-F477967AF34D}" type="presOf" srcId="{AFA87DA7-143B-4C0D-B873-67D897B4FE35}" destId="{4C2CC117-BE9D-4B5C-AB1E-EFFF91E3F03A}" srcOrd="0" destOrd="0" presId="urn:microsoft.com/office/officeart/2016/7/layout/RepeatingBendingProcessNew"/>
    <dgm:cxn modelId="{735B4739-AEAA-4CEE-8E73-B7AF7FB20928}" type="presOf" srcId="{24AB5EF3-8487-4AF5-983F-A34A1BCB7411}" destId="{DCA12709-8A7F-4DEB-AF9A-8ECD88698322}" srcOrd="0" destOrd="0" presId="urn:microsoft.com/office/officeart/2016/7/layout/RepeatingBendingProcessNew"/>
    <dgm:cxn modelId="{5B779364-3423-4273-9F8C-1563887E136C}" srcId="{2E757BE2-94E3-4CA4-BD88-D9F9805A1E70}" destId="{36345FE2-4145-4858-882F-A0DC3F859845}" srcOrd="2" destOrd="0" parTransId="{B2126982-0D9C-4153-81EB-564A1ABE54B6}" sibTransId="{4BFE67DA-1873-4E60-93D7-AFEEE194EB6A}"/>
    <dgm:cxn modelId="{64A03365-45B4-4236-93AF-E298A9D6DFE9}" type="presOf" srcId="{DDB98E0B-F4DF-4FF0-BBC3-E82BBF5CC696}" destId="{5F1AA504-5027-43D2-A769-5E26358420D0}" srcOrd="1" destOrd="0" presId="urn:microsoft.com/office/officeart/2016/7/layout/RepeatingBendingProcessNew"/>
    <dgm:cxn modelId="{6F9EC168-ABAF-4A4D-B571-5C9681E4ED46}" type="presOf" srcId="{E5EDD0C8-658A-4CBB-97FC-38F5802DF22B}" destId="{616CC5E8-82BE-44BA-ADAE-BD398A594C8F}" srcOrd="1" destOrd="0" presId="urn:microsoft.com/office/officeart/2016/7/layout/RepeatingBendingProcessNew"/>
    <dgm:cxn modelId="{DF289F56-AB34-403A-8ADB-5B13B38E7230}" type="presOf" srcId="{20D482E4-0570-416A-809A-070CDC94A266}" destId="{A34A3A31-E47C-428A-895B-7C32A0802B4A}" srcOrd="0" destOrd="0" presId="urn:microsoft.com/office/officeart/2016/7/layout/RepeatingBendingProcessNew"/>
    <dgm:cxn modelId="{CE8B4559-A65C-4A4C-BFD3-ED01258A5475}" type="presOf" srcId="{4BFE67DA-1873-4E60-93D7-AFEEE194EB6A}" destId="{467EEC44-CCA3-4C81-9434-D61BA2110ACD}" srcOrd="0" destOrd="0" presId="urn:microsoft.com/office/officeart/2016/7/layout/RepeatingBendingProcessNew"/>
    <dgm:cxn modelId="{75B99884-EACA-4A34-911A-A1837CDA1942}" srcId="{2E757BE2-94E3-4CA4-BD88-D9F9805A1E70}" destId="{24AB5EF3-8487-4AF5-983F-A34A1BCB7411}" srcOrd="4" destOrd="0" parTransId="{C14E2A8B-284E-43C5-B4FE-A20F23B1DF6D}" sibTransId="{E7C0F65A-C040-4DC2-85EA-D1610D5633ED}"/>
    <dgm:cxn modelId="{DDFD7294-F26D-439F-8E4B-E19F73F47EB0}" type="presOf" srcId="{7514D324-1844-48FC-A5D6-4B8ECA18F6E5}" destId="{82755B5E-378B-4195-9612-5A63C7DFE36C}" srcOrd="0" destOrd="0" presId="urn:microsoft.com/office/officeart/2016/7/layout/RepeatingBendingProcessNew"/>
    <dgm:cxn modelId="{1E8F53AC-52E3-4410-8F90-094476920953}" type="presOf" srcId="{D123FBF8-9A9F-49D2-B518-C478A16677D4}" destId="{4AE883BA-F69E-4DE9-BC70-322EE1AAB63E}" srcOrd="0" destOrd="0" presId="urn:microsoft.com/office/officeart/2016/7/layout/RepeatingBendingProcessNew"/>
    <dgm:cxn modelId="{5E8862BF-6B7C-4ABA-BC6C-51CABF5EA302}" type="presOf" srcId="{4BFE67DA-1873-4E60-93D7-AFEEE194EB6A}" destId="{40205888-915A-4B6F-B579-075FD14B2FB7}" srcOrd="1" destOrd="0" presId="urn:microsoft.com/office/officeart/2016/7/layout/RepeatingBendingProcessNew"/>
    <dgm:cxn modelId="{41AB92E9-BAF2-4A6E-9421-50D47312F384}" type="presOf" srcId="{E5EDD0C8-658A-4CBB-97FC-38F5802DF22B}" destId="{C03BAB03-D919-4874-B6ED-2ADDBA16B4FE}" srcOrd="0" destOrd="0" presId="urn:microsoft.com/office/officeart/2016/7/layout/RepeatingBendingProcessNew"/>
    <dgm:cxn modelId="{497F07F3-04EC-40F3-90B6-D31826F1A044}" type="presOf" srcId="{2E757BE2-94E3-4CA4-BD88-D9F9805A1E70}" destId="{58B9375C-F118-48CB-BF22-721E64E2C5CC}" srcOrd="0" destOrd="0" presId="urn:microsoft.com/office/officeart/2016/7/layout/RepeatingBendingProcessNew"/>
    <dgm:cxn modelId="{B570CAF5-894D-4BF1-8CCE-3F89B92956DA}" srcId="{2E757BE2-94E3-4CA4-BD88-D9F9805A1E70}" destId="{7514D324-1844-48FC-A5D6-4B8ECA18F6E5}" srcOrd="0" destOrd="0" parTransId="{941F2032-7500-494E-AAC8-AACBEB7E9F8F}" sibTransId="{DDB98E0B-F4DF-4FF0-BBC3-E82BBF5CC696}"/>
    <dgm:cxn modelId="{5E782EF8-C3DC-4A87-A6AD-B213FA9022F3}" srcId="{2E757BE2-94E3-4CA4-BD88-D9F9805A1E70}" destId="{20D482E4-0570-416A-809A-070CDC94A266}" srcOrd="1" destOrd="0" parTransId="{06EFB533-9DFE-42B5-826B-ABD6AC64DFA1}" sibTransId="{E5EDD0C8-658A-4CBB-97FC-38F5802DF22B}"/>
    <dgm:cxn modelId="{32B1AF38-FF02-4358-82FB-AA654A9B98D5}" type="presParOf" srcId="{58B9375C-F118-48CB-BF22-721E64E2C5CC}" destId="{82755B5E-378B-4195-9612-5A63C7DFE36C}" srcOrd="0" destOrd="0" presId="urn:microsoft.com/office/officeart/2016/7/layout/RepeatingBendingProcessNew"/>
    <dgm:cxn modelId="{A9E5A124-569C-4AFA-B251-E4D2994F7A20}" type="presParOf" srcId="{58B9375C-F118-48CB-BF22-721E64E2C5CC}" destId="{E805222A-9B96-4B30-AC8F-108F609F204D}" srcOrd="1" destOrd="0" presId="urn:microsoft.com/office/officeart/2016/7/layout/RepeatingBendingProcessNew"/>
    <dgm:cxn modelId="{A0F20DD8-0330-4E59-ABE4-5E075B4A6140}" type="presParOf" srcId="{E805222A-9B96-4B30-AC8F-108F609F204D}" destId="{5F1AA504-5027-43D2-A769-5E26358420D0}" srcOrd="0" destOrd="0" presId="urn:microsoft.com/office/officeart/2016/7/layout/RepeatingBendingProcessNew"/>
    <dgm:cxn modelId="{8FFBC2EE-E148-4BD2-8B83-714E1AB0499D}" type="presParOf" srcId="{58B9375C-F118-48CB-BF22-721E64E2C5CC}" destId="{A34A3A31-E47C-428A-895B-7C32A0802B4A}" srcOrd="2" destOrd="0" presId="urn:microsoft.com/office/officeart/2016/7/layout/RepeatingBendingProcessNew"/>
    <dgm:cxn modelId="{D73FA44F-7CBF-4DF9-AFB3-A95B66ADC6C6}" type="presParOf" srcId="{58B9375C-F118-48CB-BF22-721E64E2C5CC}" destId="{C03BAB03-D919-4874-B6ED-2ADDBA16B4FE}" srcOrd="3" destOrd="0" presId="urn:microsoft.com/office/officeart/2016/7/layout/RepeatingBendingProcessNew"/>
    <dgm:cxn modelId="{6883C665-505D-4636-BC2C-89EBB57B7D83}" type="presParOf" srcId="{C03BAB03-D919-4874-B6ED-2ADDBA16B4FE}" destId="{616CC5E8-82BE-44BA-ADAE-BD398A594C8F}" srcOrd="0" destOrd="0" presId="urn:microsoft.com/office/officeart/2016/7/layout/RepeatingBendingProcessNew"/>
    <dgm:cxn modelId="{83ECF7B4-455F-4A4F-939D-285F325E7EFC}" type="presParOf" srcId="{58B9375C-F118-48CB-BF22-721E64E2C5CC}" destId="{FD35C250-0929-4900-A307-BA258BC1EBA9}" srcOrd="4" destOrd="0" presId="urn:microsoft.com/office/officeart/2016/7/layout/RepeatingBendingProcessNew"/>
    <dgm:cxn modelId="{9DB9E2E6-D50C-44FF-86D7-3CDE248EC580}" type="presParOf" srcId="{58B9375C-F118-48CB-BF22-721E64E2C5CC}" destId="{467EEC44-CCA3-4C81-9434-D61BA2110ACD}" srcOrd="5" destOrd="0" presId="urn:microsoft.com/office/officeart/2016/7/layout/RepeatingBendingProcessNew"/>
    <dgm:cxn modelId="{259CDEDA-9B14-4F5D-91E1-80F63258D377}" type="presParOf" srcId="{467EEC44-CCA3-4C81-9434-D61BA2110ACD}" destId="{40205888-915A-4B6F-B579-075FD14B2FB7}" srcOrd="0" destOrd="0" presId="urn:microsoft.com/office/officeart/2016/7/layout/RepeatingBendingProcessNew"/>
    <dgm:cxn modelId="{719644D9-799E-4439-AC8B-81FF64B5A51D}" type="presParOf" srcId="{58B9375C-F118-48CB-BF22-721E64E2C5CC}" destId="{4AE883BA-F69E-4DE9-BC70-322EE1AAB63E}" srcOrd="6" destOrd="0" presId="urn:microsoft.com/office/officeart/2016/7/layout/RepeatingBendingProcessNew"/>
    <dgm:cxn modelId="{7F7DE019-B96B-40BE-A7CB-831E4E009E57}" type="presParOf" srcId="{58B9375C-F118-48CB-BF22-721E64E2C5CC}" destId="{4C2CC117-BE9D-4B5C-AB1E-EFFF91E3F03A}" srcOrd="7" destOrd="0" presId="urn:microsoft.com/office/officeart/2016/7/layout/RepeatingBendingProcessNew"/>
    <dgm:cxn modelId="{8CB631F6-3D8D-47F4-B972-E5222F9B1DC4}" type="presParOf" srcId="{4C2CC117-BE9D-4B5C-AB1E-EFFF91E3F03A}" destId="{8258CFB4-4444-4389-BABD-5E614D4066E8}" srcOrd="0" destOrd="0" presId="urn:microsoft.com/office/officeart/2016/7/layout/RepeatingBendingProcessNew"/>
    <dgm:cxn modelId="{4C2B8591-FB23-4909-97B5-9C127C9F1C1B}" type="presParOf" srcId="{58B9375C-F118-48CB-BF22-721E64E2C5CC}" destId="{DCA12709-8A7F-4DEB-AF9A-8ECD88698322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822A8-0CF1-4105-8399-28DB7F2D53A9}">
      <dsp:nvSpPr>
        <dsp:cNvPr id="0" name=""/>
        <dsp:cNvSpPr/>
      </dsp:nvSpPr>
      <dsp:spPr>
        <a:xfrm>
          <a:off x="0" y="5528"/>
          <a:ext cx="10515600" cy="6817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82BAB-0840-4615-8C46-25738C01F5E3}">
      <dsp:nvSpPr>
        <dsp:cNvPr id="0" name=""/>
        <dsp:cNvSpPr/>
      </dsp:nvSpPr>
      <dsp:spPr>
        <a:xfrm>
          <a:off x="206244" y="158933"/>
          <a:ext cx="375355" cy="3749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B8C9A1-759B-4584-B547-8E7C105D29AF}">
      <dsp:nvSpPr>
        <dsp:cNvPr id="0" name=""/>
        <dsp:cNvSpPr/>
      </dsp:nvSpPr>
      <dsp:spPr>
        <a:xfrm>
          <a:off x="787844" y="5528"/>
          <a:ext cx="9703893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Abstraction of Complexity:</a:t>
          </a:r>
          <a:r>
            <a:rPr lang="en-US" sz="1400" kern="1200"/>
            <a:t> APIs allow developers to use complex cloud services (like Machine Learning or Global Databases) without needing to understand the underlying hardware or low-level code. From an HCD perspective, this simplifies the "mental model" for the engineer.</a:t>
          </a:r>
        </a:p>
      </dsp:txBody>
      <dsp:txXfrm>
        <a:off x="787844" y="5528"/>
        <a:ext cx="9703893" cy="724411"/>
      </dsp:txXfrm>
    </dsp:sp>
    <dsp:sp modelId="{EF779F7C-77ED-46E1-96D0-1009281B0A15}">
      <dsp:nvSpPr>
        <dsp:cNvPr id="0" name=""/>
        <dsp:cNvSpPr/>
      </dsp:nvSpPr>
      <dsp:spPr>
        <a:xfrm>
          <a:off x="0" y="911042"/>
          <a:ext cx="10515600" cy="6817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60EF9-1915-4B18-8F56-30F678E1FB8B}">
      <dsp:nvSpPr>
        <dsp:cNvPr id="0" name=""/>
        <dsp:cNvSpPr/>
      </dsp:nvSpPr>
      <dsp:spPr>
        <a:xfrm>
          <a:off x="206244" y="1064447"/>
          <a:ext cx="375355" cy="3749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8D784-85E1-4B9B-A490-E4C65E4672DF}">
      <dsp:nvSpPr>
        <dsp:cNvPr id="0" name=""/>
        <dsp:cNvSpPr/>
      </dsp:nvSpPr>
      <dsp:spPr>
        <a:xfrm>
          <a:off x="787844" y="911042"/>
          <a:ext cx="9703893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Automation and Orchestration:</a:t>
          </a:r>
          <a:r>
            <a:rPr lang="en-US" sz="1400" kern="1200"/>
            <a:t> APIs enable </a:t>
          </a:r>
          <a:r>
            <a:rPr lang="en-US" sz="1400" b="1" kern="1200"/>
            <a:t>Infrastructure as Code (IaC)</a:t>
          </a:r>
          <a:r>
            <a:rPr lang="en-US" sz="1400" kern="1200"/>
            <a:t>. Instead of a human manually clicking buttons in the AWS Console, scripts use APIs to deploy thousands of servers instantly, ensuring consistency and reducing human error.</a:t>
          </a:r>
        </a:p>
      </dsp:txBody>
      <dsp:txXfrm>
        <a:off x="787844" y="911042"/>
        <a:ext cx="9703893" cy="724411"/>
      </dsp:txXfrm>
    </dsp:sp>
    <dsp:sp modelId="{19BF2697-4D5F-4CE1-9C6F-FB60102AA9FC}">
      <dsp:nvSpPr>
        <dsp:cNvPr id="0" name=""/>
        <dsp:cNvSpPr/>
      </dsp:nvSpPr>
      <dsp:spPr>
        <a:xfrm>
          <a:off x="0" y="1816556"/>
          <a:ext cx="10515600" cy="6817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B0B69-6C8D-4208-AC57-960C8A32D61C}">
      <dsp:nvSpPr>
        <dsp:cNvPr id="0" name=""/>
        <dsp:cNvSpPr/>
      </dsp:nvSpPr>
      <dsp:spPr>
        <a:xfrm>
          <a:off x="206244" y="1969961"/>
          <a:ext cx="375355" cy="3749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AFD91-69B4-4BB0-9135-5FFE7D86A506}">
      <dsp:nvSpPr>
        <dsp:cNvPr id="0" name=""/>
        <dsp:cNvSpPr/>
      </dsp:nvSpPr>
      <dsp:spPr>
        <a:xfrm>
          <a:off x="787844" y="1816556"/>
          <a:ext cx="9703893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Seamless Integration:</a:t>
          </a:r>
          <a:r>
            <a:rPr lang="en-US" sz="1400" kern="1200"/>
            <a:t> Cloud computing relies on "Microservices"—small, independent pieces of software that talk to each other. APIs serve as the standardized communication channel that allows an authentication service to talk to a payment service or a storage bucket.</a:t>
          </a:r>
        </a:p>
      </dsp:txBody>
      <dsp:txXfrm>
        <a:off x="787844" y="1816556"/>
        <a:ext cx="9703893" cy="724411"/>
      </dsp:txXfrm>
    </dsp:sp>
    <dsp:sp modelId="{28938797-4A3F-4B14-8417-013F5B32434F}">
      <dsp:nvSpPr>
        <dsp:cNvPr id="0" name=""/>
        <dsp:cNvSpPr/>
      </dsp:nvSpPr>
      <dsp:spPr>
        <a:xfrm>
          <a:off x="0" y="2722070"/>
          <a:ext cx="10515600" cy="6817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85413-F662-493F-843F-5950A28F7459}">
      <dsp:nvSpPr>
        <dsp:cNvPr id="0" name=""/>
        <dsp:cNvSpPr/>
      </dsp:nvSpPr>
      <dsp:spPr>
        <a:xfrm>
          <a:off x="206244" y="2875475"/>
          <a:ext cx="375355" cy="3749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65BA6-96E3-4FD8-9196-DB048B3F3956}">
      <dsp:nvSpPr>
        <dsp:cNvPr id="0" name=""/>
        <dsp:cNvSpPr/>
      </dsp:nvSpPr>
      <dsp:spPr>
        <a:xfrm>
          <a:off x="787844" y="2722070"/>
          <a:ext cx="9703893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Scalability on Demand:</a:t>
          </a:r>
          <a:r>
            <a:rPr lang="en-US" sz="1400" kern="1200"/>
            <a:t> APIs facilitate "Elasticity." When a user-facing application experiences a surge in traffic, the system sends an API call to the cloud provider to provision more resources immediately, maintaining a smooth user experience.</a:t>
          </a:r>
        </a:p>
      </dsp:txBody>
      <dsp:txXfrm>
        <a:off x="787844" y="2722070"/>
        <a:ext cx="9703893" cy="724411"/>
      </dsp:txXfrm>
    </dsp:sp>
    <dsp:sp modelId="{DF0E9F64-DD7A-4CC7-A4ED-A03FA6E33E65}">
      <dsp:nvSpPr>
        <dsp:cNvPr id="0" name=""/>
        <dsp:cNvSpPr/>
      </dsp:nvSpPr>
      <dsp:spPr>
        <a:xfrm>
          <a:off x="0" y="3627584"/>
          <a:ext cx="10515600" cy="6817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B6BAC-E54C-4B98-BE57-DD4822953BFB}">
      <dsp:nvSpPr>
        <dsp:cNvPr id="0" name=""/>
        <dsp:cNvSpPr/>
      </dsp:nvSpPr>
      <dsp:spPr>
        <a:xfrm>
          <a:off x="206244" y="3780988"/>
          <a:ext cx="375355" cy="3749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62E65-C214-4A55-B72D-65A13D3BB467}">
      <dsp:nvSpPr>
        <dsp:cNvPr id="0" name=""/>
        <dsp:cNvSpPr/>
      </dsp:nvSpPr>
      <dsp:spPr>
        <a:xfrm>
          <a:off x="787844" y="3627584"/>
          <a:ext cx="9703893" cy="7244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67" tIns="76667" rIns="76667" bIns="7666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Security and Access Control:</a:t>
          </a:r>
          <a:r>
            <a:rPr lang="en-US" sz="1400" kern="1200"/>
            <a:t> APIs act as gatekeepers. Every time a request is made to the cloud, the API checks for "keys" or "tokens." This ensures that only authorized users or applications can access sensitive data, which is a fundamental requirement for building trust in digital products.</a:t>
          </a:r>
        </a:p>
      </dsp:txBody>
      <dsp:txXfrm>
        <a:off x="787844" y="3627584"/>
        <a:ext cx="9703893" cy="7244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5222A-9B96-4B30-AC8F-108F609F204D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82755B5E-378B-4195-9612-5A63C7DFE36C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Definition:</a:t>
          </a:r>
          <a:r>
            <a:rPr lang="en-US" sz="2000" kern="1200"/>
            <a:t> An API that allows you to model and set up your entire AWS infrastructure using a simple text file.</a:t>
          </a:r>
        </a:p>
      </dsp:txBody>
      <dsp:txXfrm>
        <a:off x="8061" y="5979"/>
        <a:ext cx="3034531" cy="1820718"/>
      </dsp:txXfrm>
    </dsp:sp>
    <dsp:sp modelId="{C03BAB03-D919-4874-B6ED-2ADDBA16B4FE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126935"/>
              <a:satOff val="-3050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A34A3A31-E47C-428A-895B-7C32A0802B4A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-95201"/>
                <a:satOff val="-2288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5201"/>
                <a:satOff val="-2288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5201"/>
                <a:satOff val="-2288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Key Features:</a:t>
          </a:r>
          <a:endParaRPr lang="en-US" sz="2000" kern="1200"/>
        </a:p>
      </dsp:txBody>
      <dsp:txXfrm>
        <a:off x="3740534" y="5979"/>
        <a:ext cx="3034531" cy="1820718"/>
      </dsp:txXfrm>
    </dsp:sp>
    <dsp:sp modelId="{467EEC44-CCA3-4C81-9434-D61BA2110ACD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2">
              <a:hueOff val="-253869"/>
              <a:satOff val="-6101"/>
              <a:lumOff val="392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FD35C250-0929-4900-A307-BA258BC1EBA9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-190402"/>
                <a:satOff val="-4575"/>
                <a:lumOff val="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90402"/>
                <a:satOff val="-4575"/>
                <a:lumOff val="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90402"/>
                <a:satOff val="-4575"/>
                <a:lumOff val="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Consistency:</a:t>
          </a:r>
          <a:r>
            <a:rPr lang="en-US" sz="2000" kern="1200"/>
            <a:t> Deploy the exact same environment for testing and production.</a:t>
          </a:r>
        </a:p>
      </dsp:txBody>
      <dsp:txXfrm>
        <a:off x="7473007" y="5979"/>
        <a:ext cx="3034531" cy="1820718"/>
      </dsp:txXfrm>
    </dsp:sp>
    <dsp:sp modelId="{4C2CC117-BE9D-4B5C-AB1E-EFFF91E3F03A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2">
              <a:hueOff val="-380804"/>
              <a:satOff val="-9151"/>
              <a:lumOff val="588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4AE883BA-F69E-4DE9-BC70-322EE1AAB63E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-285603"/>
                <a:satOff val="-6863"/>
                <a:lumOff val="4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85603"/>
                <a:satOff val="-6863"/>
                <a:lumOff val="4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85603"/>
                <a:satOff val="-6863"/>
                <a:lumOff val="4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Version Control:</a:t>
          </a:r>
          <a:r>
            <a:rPr lang="en-US" sz="2000" kern="1200"/>
            <a:t> Track changes to your infrastructure like you track code.</a:t>
          </a:r>
        </a:p>
      </dsp:txBody>
      <dsp:txXfrm>
        <a:off x="8061" y="2524640"/>
        <a:ext cx="3034531" cy="1820718"/>
      </dsp:txXfrm>
    </dsp:sp>
    <dsp:sp modelId="{DCA12709-8A7F-4DEB-AF9A-8ECD88698322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gradFill rotWithShape="0">
          <a:gsLst>
            <a:gs pos="0">
              <a:schemeClr val="accent2">
                <a:hueOff val="-380804"/>
                <a:satOff val="-9151"/>
                <a:lumOff val="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80804"/>
                <a:satOff val="-9151"/>
                <a:lumOff val="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80804"/>
                <a:satOff val="-9151"/>
                <a:lumOff val="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Rollbacks:</a:t>
          </a:r>
          <a:r>
            <a:rPr lang="en-US" sz="2000" kern="1200"/>
            <a:t> If a new update breaks the user experience, you can revert to the previous state instantly.</a:t>
          </a:r>
        </a:p>
      </dsp:txBody>
      <dsp:txXfrm>
        <a:off x="3740534" y="2524640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67815741-2396-A9AA-FB69-2B6256676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347" y="731465"/>
            <a:ext cx="3361735" cy="1143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7ED7B1-3ED3-692E-F3CA-59EEEDA31EEE}"/>
              </a:ext>
            </a:extLst>
          </p:cNvPr>
          <p:cNvSpPr txBox="1"/>
          <p:nvPr/>
        </p:nvSpPr>
        <p:spPr>
          <a:xfrm>
            <a:off x="4299826" y="884713"/>
            <a:ext cx="7123490" cy="140822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Faculty of Engineering and Technology</a:t>
            </a:r>
            <a:endParaRPr lang="en-US" b="1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Department of Information and Communication Technology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1223C-69D7-A1F0-1260-B56930C38B7E}"/>
              </a:ext>
            </a:extLst>
          </p:cNvPr>
          <p:cNvSpPr txBox="1"/>
          <p:nvPr/>
        </p:nvSpPr>
        <p:spPr>
          <a:xfrm>
            <a:off x="1367369" y="2295453"/>
            <a:ext cx="94755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+mn-lt"/>
                <a:cs typeface="+mn-lt"/>
              </a:rPr>
              <a:t>Essential AWS APIs for Modern Cloud Engineering</a:t>
            </a:r>
            <a:endParaRPr lang="en-US" sz="2800" b="1"/>
          </a:p>
        </p:txBody>
      </p:sp>
      <p:pic>
        <p:nvPicPr>
          <p:cNvPr id="9" name="Picture 8" descr="A cloud shaped logo with different colored logos&#10;&#10;AI-generated content may be incorrect.">
            <a:extLst>
              <a:ext uri="{FF2B5EF4-FFF2-40B4-BE49-F238E27FC236}">
                <a16:creationId xmlns:a16="http://schemas.microsoft.com/office/drawing/2014/main" id="{8BC128B2-78DB-87C3-9639-A5CA2D94D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294" y="3698562"/>
            <a:ext cx="9478373" cy="21403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ABF7E1-E158-43D6-730C-1B839F9B7F52}"/>
              </a:ext>
            </a:extLst>
          </p:cNvPr>
          <p:cNvSpPr txBox="1"/>
          <p:nvPr/>
        </p:nvSpPr>
        <p:spPr>
          <a:xfrm>
            <a:off x="1371813" y="3069617"/>
            <a:ext cx="56214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By: Mohammed Hamid - 92301733059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97BC03-6AF7-413C-C37E-858DC3E2D863}"/>
              </a:ext>
            </a:extLst>
          </p:cNvPr>
          <p:cNvSpPr txBox="1"/>
          <p:nvPr/>
        </p:nvSpPr>
        <p:spPr>
          <a:xfrm>
            <a:off x="7337279" y="3067712"/>
            <a:ext cx="40950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Subject: Human Center Designed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F6D464-C79E-F0F9-34C1-02F7BC4E56ED}"/>
              </a:ext>
            </a:extLst>
          </p:cNvPr>
          <p:cNvSpPr txBox="1"/>
          <p:nvPr/>
        </p:nvSpPr>
        <p:spPr>
          <a:xfrm>
            <a:off x="5321431" y="5866570"/>
            <a:ext cx="15699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Fab 2026</a:t>
            </a:r>
          </a:p>
        </p:txBody>
      </p:sp>
    </p:spTree>
    <p:extLst>
      <p:ext uri="{BB962C8B-B14F-4D97-AF65-F5344CB8AC3E}">
        <p14:creationId xmlns:p14="http://schemas.microsoft.com/office/powerpoint/2010/main" val="1597114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286E2-2AF9-D181-4CE8-84C56D3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Role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5CA456EF-74FF-B5E6-5EE8-3DA5B019A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58334"/>
            <a:ext cx="5136795" cy="2838079"/>
          </a:xfrm>
          <a:prstGeom prst="rect">
            <a:avLst/>
          </a:prstGeom>
        </p:spPr>
      </p:pic>
      <p:pic>
        <p:nvPicPr>
          <p:cNvPr id="6" name="Picture 5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A4443446-A2E4-F975-B9B1-2EB623CBD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264" y="793174"/>
            <a:ext cx="5136795" cy="256839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E2EA5-EB8E-39D0-5D7A-4FC446B948F7}"/>
              </a:ext>
            </a:extLst>
          </p:cNvPr>
          <p:cNvSpPr txBox="1"/>
          <p:nvPr/>
        </p:nvSpPr>
        <p:spPr>
          <a:xfrm>
            <a:off x="5162719" y="4495568"/>
            <a:ext cx="6586915" cy="190523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In the world of Cloud Engineering, APIs are the "glue" that connects users, applications, and infrastructure. Since you are studying </a:t>
            </a:r>
            <a:r>
              <a:rPr lang="en-US" b="1"/>
              <a:t>Human-Centered Design (HCD)</a:t>
            </a:r>
            <a:r>
              <a:rPr lang="en-US"/>
              <a:t>, it’s helpful to view APIs not just as code, but as the interface that translates human intent into machine action.</a:t>
            </a:r>
          </a:p>
        </p:txBody>
      </p:sp>
    </p:spTree>
    <p:extLst>
      <p:ext uri="{BB962C8B-B14F-4D97-AF65-F5344CB8AC3E}">
        <p14:creationId xmlns:p14="http://schemas.microsoft.com/office/powerpoint/2010/main" val="227593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9871E-6B6D-28F2-B6AE-426DE37B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/>
              <a:t>key points on the role of APIs in Cloud Computing:</a:t>
            </a:r>
          </a:p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5B1EB621-EDBA-BCD8-B5D9-0AA2BA160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21721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963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CE790-5C83-C09F-8BEA-7A281F4A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4000" b="1" dirty="0"/>
              <a:t>1: Amazon EC2 API (Compute)</a:t>
            </a:r>
            <a:endParaRPr lang="en-US" sz="4000" dirty="0"/>
          </a:p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7F987-CFF2-9C56-7F95-220E54F5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Definition:</a:t>
            </a:r>
            <a:r>
              <a:rPr lang="en-US" sz="1600">
                <a:ea typeface="+mn-lt"/>
                <a:cs typeface="+mn-lt"/>
              </a:rPr>
              <a:t> The interface for managing </a:t>
            </a:r>
            <a:r>
              <a:rPr lang="en-US" sz="1600" b="1">
                <a:ea typeface="+mn-lt"/>
                <a:cs typeface="+mn-lt"/>
              </a:rPr>
              <a:t>Elastic Compute Cloud</a:t>
            </a:r>
            <a:r>
              <a:rPr lang="en-US" sz="1600">
                <a:ea typeface="+mn-lt"/>
                <a:cs typeface="+mn-lt"/>
              </a:rPr>
              <a:t> instances. It allows you to programmatically launch, stop, and terminate virtual servers.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 b="1" dirty="0">
                <a:ea typeface="+mn-lt"/>
                <a:cs typeface="+mn-lt"/>
              </a:rPr>
              <a:t>Key Features:</a:t>
            </a:r>
            <a:endParaRPr lang="en-US" sz="1600" dirty="0"/>
          </a:p>
          <a:p>
            <a:pPr lvl="1"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Auto-Scaling:</a:t>
            </a:r>
            <a:r>
              <a:rPr lang="en-US" sz="1600">
                <a:ea typeface="+mn-lt"/>
                <a:cs typeface="+mn-lt"/>
              </a:rPr>
              <a:t> Automatically adjusts capacity based on human traffic patterns.</a:t>
            </a:r>
            <a:endParaRPr lang="en-US" sz="1600"/>
          </a:p>
          <a:p>
            <a:pPr lvl="1"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Instance Customization:</a:t>
            </a:r>
            <a:r>
              <a:rPr lang="en-US" sz="1600">
                <a:ea typeface="+mn-lt"/>
                <a:cs typeface="+mn-lt"/>
              </a:rPr>
              <a:t> Choose CPU, GPU, and RAM configurations tailored to specific user needs.</a:t>
            </a:r>
            <a:endParaRPr lang="en-US" sz="1600"/>
          </a:p>
          <a:p>
            <a:pPr lvl="1"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Global Reach:</a:t>
            </a:r>
            <a:r>
              <a:rPr lang="en-US" sz="1600">
                <a:ea typeface="+mn-lt"/>
                <a:cs typeface="+mn-lt"/>
              </a:rPr>
              <a:t> Deploy servers in multiple regions to reduce latency for the end user.</a:t>
            </a:r>
            <a:endParaRPr lang="en-US" sz="1600"/>
          </a:p>
          <a:p>
            <a:pPr>
              <a:lnSpc>
                <a:spcPct val="110000"/>
              </a:lnSpc>
            </a:pPr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86A60-EAB2-E488-AAE4-BB4406CC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57" r="44764" b="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9619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3B51D-8EF2-2AFB-AFF2-495E58793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2: Amazon S3 API (Storage)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CE1F9-9AF0-35F0-9D98-7CD50F3D9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Definition:</a:t>
            </a:r>
            <a:r>
              <a:rPr lang="en-US" sz="1600">
                <a:ea typeface="+mn-lt"/>
                <a:cs typeface="+mn-lt"/>
              </a:rPr>
              <a:t> An object storage service API designed to store and retrieve any amount of data from anywhere on the web.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Key Features: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99.99% Durability:</a:t>
            </a:r>
            <a:r>
              <a:rPr lang="en-US" sz="1600">
                <a:ea typeface="+mn-lt"/>
                <a:cs typeface="+mn-lt"/>
              </a:rPr>
              <a:t> Ensures user data is never lost.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Static Web Hosting:</a:t>
            </a:r>
            <a:r>
              <a:rPr lang="en-US" sz="1600">
                <a:ea typeface="+mn-lt"/>
                <a:cs typeface="+mn-lt"/>
              </a:rPr>
              <a:t> Host front-end HCD prototypes directly from a bucket.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 b="1">
                <a:ea typeface="+mn-lt"/>
                <a:cs typeface="+mn-lt"/>
              </a:rPr>
              <a:t>Lifecycle Policies:</a:t>
            </a:r>
            <a:r>
              <a:rPr lang="en-US" sz="1600">
                <a:ea typeface="+mn-lt"/>
                <a:cs typeface="+mn-lt"/>
              </a:rPr>
              <a:t> Automatically moves old data to cheaper storage to save costs.</a:t>
            </a:r>
            <a:endParaRPr lang="en-US" sz="1600"/>
          </a:p>
          <a:p>
            <a:pPr>
              <a:lnSpc>
                <a:spcPct val="110000"/>
              </a:lnSpc>
            </a:pPr>
            <a:endParaRPr lang="en-US" sz="1600"/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D69BB076-7973-F71C-6D8F-8959A8A0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1" r="27196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51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AB2EC-3D4D-7BA8-99DD-464C3C1C8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3: AWS Lambda API (Serverless)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A064-82F2-D177-4C9E-0BB9E6EB4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Definition:</a:t>
            </a:r>
            <a:r>
              <a:rPr lang="en-US" dirty="0">
                <a:ea typeface="+mn-lt"/>
                <a:cs typeface="+mn-lt"/>
              </a:rPr>
              <a:t> A serverless compute service that runs code in response to triggers without the need to manage servers.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Key Features: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Event-Driven:</a:t>
            </a:r>
            <a:r>
              <a:rPr lang="en-US" dirty="0">
                <a:ea typeface="+mn-lt"/>
                <a:cs typeface="+mn-lt"/>
              </a:rPr>
              <a:t> Runs only when a user interacts (e.g., clicking a button or uploading a file).</a:t>
            </a: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No Infrastructure Overhead:</a:t>
            </a:r>
            <a:r>
              <a:rPr lang="en-US" dirty="0">
                <a:ea typeface="+mn-lt"/>
                <a:cs typeface="+mn-lt"/>
              </a:rPr>
              <a:t> Allows engineers to focus solely on the user-facing logic.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Sub-second Scaling:</a:t>
            </a:r>
            <a:r>
              <a:rPr lang="en-US" dirty="0">
                <a:ea typeface="+mn-lt"/>
                <a:cs typeface="+mn-lt"/>
              </a:rPr>
              <a:t> Handles 1 user or 10,000 users instantly.</a:t>
            </a: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2B89D71D-4807-38FD-CFDD-BBB8BFD851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3" r="38834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80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AB63A-1F1C-1A65-C959-7AFA6B4B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4: Amazon API Gateway</a:t>
            </a:r>
            <a:endParaRPr lang="en-US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556D9-F4BF-BA48-CAE4-8EF62AA29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>
                <a:ea typeface="+mn-lt"/>
                <a:cs typeface="+mn-lt"/>
              </a:rPr>
              <a:t>Definition:</a:t>
            </a:r>
            <a:r>
              <a:rPr lang="en-US" sz="1500">
                <a:ea typeface="+mn-lt"/>
                <a:cs typeface="+mn-lt"/>
              </a:rPr>
              <a:t> A fully managed service that makes it easy for developers to create, publish, and maintain secure APIs at any scale.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 b="1" dirty="0">
                <a:ea typeface="+mn-lt"/>
                <a:cs typeface="+mn-lt"/>
              </a:rPr>
              <a:t>Key Features:</a:t>
            </a: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1500" b="1" dirty="0">
                <a:ea typeface="+mn-lt"/>
                <a:cs typeface="+mn-lt"/>
              </a:rPr>
              <a:t>Traffic Management:</a:t>
            </a:r>
            <a:r>
              <a:rPr lang="en-US" sz="1500" dirty="0">
                <a:ea typeface="+mn-lt"/>
                <a:cs typeface="+mn-lt"/>
              </a:rPr>
              <a:t> Prevents backend crashes by "throttling" excessive user requests.</a:t>
            </a: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1500" b="1">
                <a:ea typeface="+mn-lt"/>
                <a:cs typeface="+mn-lt"/>
              </a:rPr>
              <a:t>Caching:</a:t>
            </a:r>
            <a:r>
              <a:rPr lang="en-US" sz="1500">
                <a:ea typeface="+mn-lt"/>
                <a:cs typeface="+mn-lt"/>
              </a:rPr>
              <a:t> Stores common responses to make the application feel faster to the human user.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 b="1">
                <a:ea typeface="+mn-lt"/>
                <a:cs typeface="+mn-lt"/>
              </a:rPr>
              <a:t>Security:</a:t>
            </a:r>
            <a:r>
              <a:rPr lang="en-US" sz="1500">
                <a:ea typeface="+mn-lt"/>
                <a:cs typeface="+mn-lt"/>
              </a:rPr>
              <a:t> Integrates with IAM and Cognito for user authentication.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97657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C68BA-A0EE-63F4-DF4E-C121DFFC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  <a:ea typeface="+mj-lt"/>
                <a:cs typeface="+mj-lt"/>
              </a:rPr>
              <a:t>5: Amazon DynamoDB API (NoSQL Database)</a:t>
            </a:r>
            <a:endParaRPr lang="en-US" sz="3100">
              <a:solidFill>
                <a:schemeClr val="tx2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28AEE35-9697-5589-9144-F0609B3C8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Definition: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A fast and flexible NoSQL database service for applications that need single-digit millisecond latency.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Key Features: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Schema-less: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Easily adapt data structures as user requirements change.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Consistent Performance: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Performance remains the same whether the table is 1GB or 100TB.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500" b="1">
                <a:solidFill>
                  <a:schemeClr val="tx2"/>
                </a:solidFill>
                <a:ea typeface="+mn-lt"/>
                <a:cs typeface="+mn-lt"/>
              </a:rPr>
              <a:t>Point-in-Time Recovery:</a:t>
            </a:r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 Protects against accidental user errors or deletions.</a:t>
            </a: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110000"/>
              </a:lnSpc>
            </a:pPr>
            <a:endParaRPr lang="en-US" sz="15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8DBBD6C7-DB83-345E-8A0D-918A9053A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5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83839-EFB0-2061-AFE2-012FAAE0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6: AWS IAM API (Security)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7634B-15D4-7833-8EFC-86F736FE9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Definition:</a:t>
            </a:r>
            <a:r>
              <a:rPr lang="en-US" dirty="0">
                <a:ea typeface="+mn-lt"/>
                <a:cs typeface="+mn-lt"/>
              </a:rPr>
              <a:t> The </a:t>
            </a:r>
            <a:r>
              <a:rPr lang="en-US" b="1" dirty="0">
                <a:ea typeface="+mn-lt"/>
                <a:cs typeface="+mn-lt"/>
              </a:rPr>
              <a:t>Identity and Access Management</a:t>
            </a:r>
            <a:r>
              <a:rPr lang="en-US" dirty="0">
                <a:ea typeface="+mn-lt"/>
                <a:cs typeface="+mn-lt"/>
              </a:rPr>
              <a:t> API used to securely control access to AWS services.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Key Features: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Least Privilege:</a:t>
            </a:r>
            <a:r>
              <a:rPr lang="en-US" dirty="0">
                <a:ea typeface="+mn-lt"/>
                <a:cs typeface="+mn-lt"/>
              </a:rPr>
              <a:t> Ensures users only have access to what they need—a core principle of secure HCD.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Multi-Factor Authentication (MFA):</a:t>
            </a:r>
            <a:r>
              <a:rPr lang="en-US" dirty="0">
                <a:ea typeface="+mn-lt"/>
                <a:cs typeface="+mn-lt"/>
              </a:rPr>
              <a:t> Adds a layer of human-centric security.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b="1" dirty="0">
                <a:ea typeface="+mn-lt"/>
                <a:cs typeface="+mn-lt"/>
              </a:rPr>
              <a:t>Roles:</a:t>
            </a:r>
            <a:r>
              <a:rPr lang="en-US" dirty="0">
                <a:ea typeface="+mn-lt"/>
                <a:cs typeface="+mn-lt"/>
              </a:rPr>
              <a:t> Temporary permissions for applications, reducing the risk of hardcoded keys.</a:t>
            </a: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92D9EBD2-8887-2B5B-2552-519501B60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6" r="4238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1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01730-8597-D550-4D74-46163D883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7: Amazon CloudWatch API (Monitoring)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CC99D-C554-3B61-225B-EAAA950B2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Definition:</a:t>
            </a:r>
            <a:r>
              <a:rPr lang="en-US" sz="17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A monitoring and observability service that provides data and actionable insights for applications.</a:t>
            </a:r>
            <a:endParaRPr lang="en-US" sz="1700">
              <a:solidFill>
                <a:schemeClr val="tx1">
                  <a:alpha val="5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Key Features:</a:t>
            </a:r>
            <a:endParaRPr lang="en-US" sz="1700">
              <a:solidFill>
                <a:schemeClr val="tx1">
                  <a:alpha val="5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Real-time Dashboards:</a:t>
            </a:r>
            <a:r>
              <a:rPr lang="en-US" sz="17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Visualizes how humans are experiencing your app (errors, speed, etc.).</a:t>
            </a:r>
            <a:endParaRPr lang="en-US" sz="1700">
              <a:solidFill>
                <a:schemeClr val="tx1">
                  <a:alpha val="5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Alarms:</a:t>
            </a:r>
            <a:r>
              <a:rPr lang="en-US" sz="17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Automatically notifies engineers if the user experience is degrading.</a:t>
            </a:r>
            <a:endParaRPr lang="en-US" sz="1700">
              <a:solidFill>
                <a:schemeClr val="tx1">
                  <a:alpha val="5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700" b="1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Log Insights:</a:t>
            </a:r>
            <a:r>
              <a:rPr lang="en-US" sz="1700">
                <a:solidFill>
                  <a:schemeClr val="tx1">
                    <a:alpha val="55000"/>
                  </a:schemeClr>
                </a:solidFill>
                <a:ea typeface="+mn-lt"/>
                <a:cs typeface="+mn-lt"/>
              </a:rPr>
              <a:t> Helps troubleshoot why a user had a specific problem.</a:t>
            </a:r>
            <a:endParaRPr lang="en-US" sz="1700">
              <a:solidFill>
                <a:schemeClr val="tx1">
                  <a:alpha val="55000"/>
                </a:schemeClr>
              </a:solidFill>
            </a:endParaRPr>
          </a:p>
          <a:p>
            <a:pPr>
              <a:lnSpc>
                <a:spcPct val="110000"/>
              </a:lnSpc>
            </a:pPr>
            <a:endParaRPr lang="en-US" sz="1700">
              <a:solidFill>
                <a:schemeClr val="tx1">
                  <a:alpha val="5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069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7181E6-7601-E931-6BF0-C65024C69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3700">
                <a:solidFill>
                  <a:schemeClr val="bg1"/>
                </a:solidFill>
                <a:ea typeface="+mj-lt"/>
                <a:cs typeface="+mj-lt"/>
              </a:rPr>
              <a:t>8: Amazon Cognito API (Authentication)</a:t>
            </a:r>
            <a:endParaRPr lang="en-US" sz="37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63FBB-DDAC-EE35-8269-D3218122F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Definition: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Provides a simple way for users to sign up and sign in to your web and mobile apps.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Key Features: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Social Login: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Allows users to sign in with Google, Facebook, or Amazon.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User Pools: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A secure directory that scales to millions of users.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Adaptive Authentication: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Detects unusual login patterns to protect human accounts.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669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F37CF-D1BD-A90B-62CF-5F4014A6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3100">
                <a:ea typeface="+mj-lt"/>
                <a:cs typeface="+mj-lt"/>
              </a:rPr>
              <a:t>9: Amazon Rekognition API (AI/Vision)</a:t>
            </a:r>
            <a:endParaRPr lang="en-US" sz="310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99B7F-B8FB-9322-BF1D-1D4F12A3D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Definition:</a:t>
            </a:r>
            <a:r>
              <a:rPr lang="en-US" sz="1700">
                <a:ea typeface="+mn-lt"/>
                <a:cs typeface="+mn-lt"/>
              </a:rPr>
              <a:t> An AI service that makes it easy to add image and video analysis to your applications.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Key Features: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Facial Analysis:</a:t>
            </a:r>
            <a:r>
              <a:rPr lang="en-US" sz="1700">
                <a:ea typeface="+mn-lt"/>
                <a:cs typeface="+mn-lt"/>
              </a:rPr>
              <a:t> Detects emotions (Happy, Sad, Angry), which is vital for HCD research.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Content Moderation:</a:t>
            </a:r>
            <a:r>
              <a:rPr lang="en-US" sz="1700">
                <a:ea typeface="+mn-lt"/>
                <a:cs typeface="+mn-lt"/>
              </a:rPr>
              <a:t> Automatically removes inappropriate content to protect users.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 b="1">
                <a:ea typeface="+mn-lt"/>
                <a:cs typeface="+mn-lt"/>
              </a:rPr>
              <a:t>Object Detection:</a:t>
            </a:r>
            <a:r>
              <a:rPr lang="en-US" sz="1700">
                <a:ea typeface="+mn-lt"/>
                <a:cs typeface="+mn-lt"/>
              </a:rPr>
              <a:t> Helps build accessible apps for visually impaired users.</a:t>
            </a:r>
            <a:endParaRPr lang="en-US" sz="1700"/>
          </a:p>
          <a:p>
            <a:pPr>
              <a:lnSpc>
                <a:spcPct val="11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583347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9D14D2-B203-57AB-9B5A-BA59D4F5EE9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2079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21460-1077-4925-C7E8-9982AF98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10: AWS CloudFormation API (Infrastructure as Code)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032BB92-EE22-9ED1-8A95-5A62F390B5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987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5113011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E0C342-8465-4BC7-8BC2-109769D1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C9BDB02-468F-47C2-99BC-A44747A5A2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0A8AE46-CCEC-4D32-B819-DE8E9574F91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Oasis</Template>
  <TotalTime>0</TotalTime>
  <Words>4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Oasis</vt:lpstr>
      <vt:lpstr>PowerPoint Presentation</vt:lpstr>
      <vt:lpstr>Role</vt:lpstr>
      <vt:lpstr>key points on the role of APIs in Cloud Computing: </vt:lpstr>
      <vt:lpstr>1: Amazon EC2 API (Compute) </vt:lpstr>
      <vt:lpstr>2: Amazon S3 API (Storage)</vt:lpstr>
      <vt:lpstr>3: AWS Lambda API (Serverless)</vt:lpstr>
      <vt:lpstr>4: Amazon API Gateway</vt:lpstr>
      <vt:lpstr>5: Amazon DynamoDB API (NoSQL Database)</vt:lpstr>
      <vt:lpstr>6: AWS IAM API (Security)</vt:lpstr>
      <vt:lpstr>7: Amazon CloudWatch API (Monitoring)</vt:lpstr>
      <vt:lpstr>8: Amazon Cognito API (Authentication)</vt:lpstr>
      <vt:lpstr>9: Amazon Rekognition API (AI/Vision)</vt:lpstr>
      <vt:lpstr>10: AWS CloudFormation API (Infrastructure as Code)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197</cp:revision>
  <dcterms:created xsi:type="dcterms:W3CDTF">2026-02-09T17:25:35Z</dcterms:created>
  <dcterms:modified xsi:type="dcterms:W3CDTF">2026-02-11T18:22:35Z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